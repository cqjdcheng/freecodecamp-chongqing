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85" r:id="rId2"/>
    <p:sldId id="306" r:id="rId3"/>
    <p:sldId id="307" r:id="rId4"/>
    <p:sldId id="308" r:id="rId5"/>
    <p:sldId id="309" r:id="rId6"/>
    <p:sldId id="310" r:id="rId7"/>
    <p:sldId id="312" r:id="rId8"/>
    <p:sldId id="314" r:id="rId9"/>
    <p:sldId id="311" r:id="rId10"/>
  </p:sldIdLst>
  <p:sldSz cx="12192000" cy="6858000"/>
  <p:notesSz cx="7104063" cy="10234613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0A"/>
    <a:srgbClr val="60F6E9"/>
    <a:srgbClr val="F1DF97"/>
    <a:srgbClr val="0904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7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A4F77-1C52-4644-ACDB-AE5693644D53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FFE00-88BE-47C1-814C-BADD3C79B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364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52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674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191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66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45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690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968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75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F58067-3EE2-4037-9E05-DF3BD760E06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407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919A30-4106-466B-AA57-5583DE2FFF16}"/>
              </a:ext>
            </a:extLst>
          </p:cNvPr>
          <p:cNvSpPr/>
          <p:nvPr userDrawn="1"/>
        </p:nvSpPr>
        <p:spPr>
          <a:xfrm>
            <a:off x="10495402" y="4785117"/>
            <a:ext cx="1314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" dirty="0">
                <a:solidFill>
                  <a:srgbClr val="0C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不得将觅知网的</a:t>
            </a:r>
            <a:r>
              <a:rPr lang="en-US" altLang="zh-CN" sz="600" dirty="0">
                <a:solidFill>
                  <a:srgbClr val="0C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600" dirty="0">
                <a:solidFill>
                  <a:srgbClr val="0C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模板、</a:t>
            </a:r>
            <a:r>
              <a:rPr lang="en-US" altLang="zh-CN" sz="600" dirty="0">
                <a:solidFill>
                  <a:srgbClr val="0C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600" dirty="0">
                <a:solidFill>
                  <a:srgbClr val="0C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endParaRPr lang="zh-CN" altLang="en-US" sz="600" dirty="0">
              <a:solidFill>
                <a:srgbClr val="0C0A0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75496" y="665019"/>
            <a:ext cx="11041008" cy="578054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990944-B8D8-437B-A819-6A994D6D22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966" y="0"/>
            <a:ext cx="2368473" cy="2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0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2019/1/5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286D1DEE-7B89-454E-896D-84B5964442F8}"/>
              </a:ext>
            </a:extLst>
          </p:cNvPr>
          <p:cNvSpPr txBox="1"/>
          <p:nvPr/>
        </p:nvSpPr>
        <p:spPr>
          <a:xfrm>
            <a:off x="1553248" y="2188690"/>
            <a:ext cx="96334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地产</a:t>
            </a:r>
            <a:r>
              <a:rPr lang="en-US" altLang="zh-CN" sz="6600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互联网的发展机会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752AEE3-1004-4DF7-AE52-1E6444849BDB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1CAC6BE-46C0-4245-9B29-7765FE2F60E3}"/>
              </a:ext>
            </a:extLst>
          </p:cNvPr>
          <p:cNvSpPr txBox="1"/>
          <p:nvPr/>
        </p:nvSpPr>
        <p:spPr>
          <a:xfrm>
            <a:off x="4570319" y="5668897"/>
            <a:ext cx="3146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新空间科技  总裁  毛玉峰</a:t>
            </a:r>
          </a:p>
        </p:txBody>
      </p:sp>
    </p:spTree>
    <p:extLst>
      <p:ext uri="{BB962C8B-B14F-4D97-AF65-F5344CB8AC3E}">
        <p14:creationId xmlns:p14="http://schemas.microsoft.com/office/powerpoint/2010/main" val="72432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CC8F0FBB-F7A6-4293-9416-3454B1BE5EBE}"/>
              </a:ext>
            </a:extLst>
          </p:cNvPr>
          <p:cNvSpPr txBox="1"/>
          <p:nvPr/>
        </p:nvSpPr>
        <p:spPr>
          <a:xfrm>
            <a:off x="2824994" y="973329"/>
            <a:ext cx="104682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FFC000"/>
                </a:solidFill>
                <a:latin typeface="+mn-ea"/>
              </a:rPr>
              <a:t>地产</a:t>
            </a:r>
            <a:r>
              <a:rPr lang="en-US" altLang="zh-CN" sz="4400" dirty="0">
                <a:solidFill>
                  <a:srgbClr val="FFC000"/>
                </a:solidFill>
                <a:latin typeface="+mn-ea"/>
              </a:rPr>
              <a:t>+</a:t>
            </a:r>
            <a:r>
              <a:rPr lang="zh-CN" altLang="en-US" sz="4400" dirty="0">
                <a:solidFill>
                  <a:srgbClr val="FFC000"/>
                </a:solidFill>
                <a:latin typeface="+mn-ea"/>
              </a:rPr>
              <a:t>互联网</a:t>
            </a:r>
            <a:r>
              <a:rPr lang="zh-CN" altLang="en-US" sz="3600" dirty="0">
                <a:solidFill>
                  <a:schemeClr val="bg1"/>
                </a:solidFill>
                <a:latin typeface="+mn-ea"/>
              </a:rPr>
              <a:t>的机会在哪里？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8EC11B-ED0B-4910-B5E4-777CB701C241}"/>
              </a:ext>
            </a:extLst>
          </p:cNvPr>
          <p:cNvSpPr txBox="1"/>
          <p:nvPr/>
        </p:nvSpPr>
        <p:spPr>
          <a:xfrm>
            <a:off x="861891" y="3559629"/>
            <a:ext cx="10468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+mn-ea"/>
              </a:rPr>
              <a:t>规模               环境               价值</a:t>
            </a:r>
            <a:endParaRPr lang="en-US" altLang="zh-CN" sz="5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505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C9D9329-65A9-4E47-ABA8-53B745294C45}"/>
              </a:ext>
            </a:extLst>
          </p:cNvPr>
          <p:cNvGrpSpPr/>
          <p:nvPr/>
        </p:nvGrpSpPr>
        <p:grpSpPr>
          <a:xfrm>
            <a:off x="452532" y="536449"/>
            <a:ext cx="436880" cy="436880"/>
            <a:chOff x="2164080" y="579120"/>
            <a:chExt cx="436880" cy="436880"/>
          </a:xfrm>
          <a:solidFill>
            <a:schemeClr val="bg1">
              <a:alpha val="40000"/>
            </a:schemeClr>
          </a:solidFill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6812E72-AFA0-4456-B1F3-72F384286B46}"/>
                </a:ext>
              </a:extLst>
            </p:cNvPr>
            <p:cNvSpPr/>
            <p:nvPr/>
          </p:nvSpPr>
          <p:spPr>
            <a:xfrm>
              <a:off x="2164080" y="579120"/>
              <a:ext cx="436880" cy="436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DD53B9C-A402-4E71-81B1-C9F2C21CBB00}"/>
                </a:ext>
              </a:extLst>
            </p:cNvPr>
            <p:cNvSpPr/>
            <p:nvPr/>
          </p:nvSpPr>
          <p:spPr>
            <a:xfrm>
              <a:off x="2259330" y="674370"/>
              <a:ext cx="246380" cy="2463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B854B977-2E1D-4B1E-AC06-48924CAAA0F4}"/>
              </a:ext>
            </a:extLst>
          </p:cNvPr>
          <p:cNvSpPr txBox="1"/>
          <p:nvPr/>
        </p:nvSpPr>
        <p:spPr>
          <a:xfrm>
            <a:off x="1127760" y="353070"/>
            <a:ext cx="2804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600" dirty="0">
                <a:solidFill>
                  <a:schemeClr val="bg1"/>
                </a:solidFill>
                <a:cs typeface="+mn-ea"/>
                <a:sym typeface="+mn-lt"/>
              </a:rPr>
              <a:t>规模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B708BD-4F99-4623-ADD2-5DA9A18C6CD7}"/>
              </a:ext>
            </a:extLst>
          </p:cNvPr>
          <p:cNvSpPr txBox="1"/>
          <p:nvPr/>
        </p:nvSpPr>
        <p:spPr>
          <a:xfrm>
            <a:off x="1973334" y="2914692"/>
            <a:ext cx="8979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新房：</a:t>
            </a:r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GMV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达到</a:t>
            </a:r>
            <a:r>
              <a:rPr lang="en-US" altLang="zh-CN" sz="3200" b="1" dirty="0">
                <a:solidFill>
                  <a:srgbClr val="FFC000"/>
                </a:solidFill>
                <a:latin typeface="+mj-ea"/>
                <a:ea typeface="+mj-ea"/>
              </a:rPr>
              <a:t>12</a:t>
            </a:r>
            <a:r>
              <a:rPr lang="zh-CN" altLang="en-US" sz="3200" b="1" dirty="0">
                <a:solidFill>
                  <a:srgbClr val="FFC000"/>
                </a:solidFill>
                <a:latin typeface="+mj-ea"/>
                <a:ea typeface="+mj-ea"/>
              </a:rPr>
              <a:t>万亿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，成交面积</a:t>
            </a:r>
            <a:r>
              <a:rPr lang="en-US" altLang="zh-CN" sz="3200" b="1" dirty="0">
                <a:solidFill>
                  <a:srgbClr val="FFC000"/>
                </a:solidFill>
                <a:latin typeface="+mj-ea"/>
                <a:ea typeface="+mj-ea"/>
              </a:rPr>
              <a:t>14.6</a:t>
            </a:r>
            <a:r>
              <a:rPr lang="zh-CN" altLang="en-US" sz="3200" b="1" dirty="0">
                <a:solidFill>
                  <a:srgbClr val="FFC000"/>
                </a:solidFill>
                <a:latin typeface="+mj-ea"/>
                <a:ea typeface="+mj-ea"/>
              </a:rPr>
              <a:t>亿平米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055C9C-8D01-444D-8419-0230D7542CC0}"/>
              </a:ext>
            </a:extLst>
          </p:cNvPr>
          <p:cNvSpPr txBox="1"/>
          <p:nvPr/>
        </p:nvSpPr>
        <p:spPr>
          <a:xfrm>
            <a:off x="1973334" y="4205866"/>
            <a:ext cx="8979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二手房：</a:t>
            </a:r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GMV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预计</a:t>
            </a:r>
            <a:r>
              <a:rPr lang="en-US" altLang="zh-CN" sz="3200" b="1" dirty="0">
                <a:solidFill>
                  <a:srgbClr val="FFC000"/>
                </a:solidFill>
                <a:latin typeface="+mj-ea"/>
                <a:ea typeface="+mj-ea"/>
              </a:rPr>
              <a:t>5</a:t>
            </a:r>
            <a:r>
              <a:rPr lang="zh-CN" altLang="en-US" sz="3200" b="1" dirty="0">
                <a:solidFill>
                  <a:srgbClr val="FFC000"/>
                </a:solidFill>
                <a:latin typeface="+mj-ea"/>
                <a:ea typeface="+mj-ea"/>
              </a:rPr>
              <a:t>万亿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，成交面积</a:t>
            </a:r>
            <a:r>
              <a:rPr lang="en-US" altLang="zh-CN" sz="3200" b="1" dirty="0">
                <a:solidFill>
                  <a:srgbClr val="FFC000"/>
                </a:solidFill>
                <a:latin typeface="+mj-ea"/>
                <a:ea typeface="+mj-ea"/>
              </a:rPr>
              <a:t>3.95</a:t>
            </a:r>
            <a:r>
              <a:rPr lang="zh-CN" altLang="en-US" sz="3200" b="1" dirty="0">
                <a:solidFill>
                  <a:srgbClr val="FFC000"/>
                </a:solidFill>
                <a:latin typeface="+mj-ea"/>
                <a:ea typeface="+mj-ea"/>
              </a:rPr>
              <a:t>亿平米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251DB38-5285-4ADF-918C-D77547596BC3}"/>
              </a:ext>
            </a:extLst>
          </p:cNvPr>
          <p:cNvSpPr txBox="1"/>
          <p:nvPr/>
        </p:nvSpPr>
        <p:spPr>
          <a:xfrm>
            <a:off x="1973334" y="5502550"/>
            <a:ext cx="8979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商业地产：</a:t>
            </a:r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GMV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预计</a:t>
            </a:r>
            <a:r>
              <a:rPr lang="en-US" altLang="zh-CN" sz="3200" b="1" dirty="0">
                <a:solidFill>
                  <a:srgbClr val="FFC000"/>
                </a:solidFill>
                <a:latin typeface="+mj-ea"/>
                <a:ea typeface="+mj-ea"/>
              </a:rPr>
              <a:t>1.5</a:t>
            </a:r>
            <a:r>
              <a:rPr lang="zh-CN" altLang="en-US" sz="3200" b="1" dirty="0">
                <a:solidFill>
                  <a:srgbClr val="FFC000"/>
                </a:solidFill>
                <a:latin typeface="+mj-ea"/>
                <a:ea typeface="+mj-ea"/>
              </a:rPr>
              <a:t>万亿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E4F558A-C5C0-4AD4-9319-3679518377F5}"/>
              </a:ext>
            </a:extLst>
          </p:cNvPr>
          <p:cNvSpPr txBox="1"/>
          <p:nvPr/>
        </p:nvSpPr>
        <p:spPr>
          <a:xfrm>
            <a:off x="384893" y="1109620"/>
            <a:ext cx="11051458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</a:rPr>
              <a:t>2018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年整个房地产市场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</a:rPr>
              <a:t>GMV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总量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</a:rPr>
              <a:t>20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万亿 ，开发商的平均利润值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</a:rPr>
              <a:t>6-8%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543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C9D9329-65A9-4E47-ABA8-53B745294C45}"/>
              </a:ext>
            </a:extLst>
          </p:cNvPr>
          <p:cNvGrpSpPr/>
          <p:nvPr/>
        </p:nvGrpSpPr>
        <p:grpSpPr>
          <a:xfrm>
            <a:off x="452532" y="536449"/>
            <a:ext cx="436880" cy="436880"/>
            <a:chOff x="2164080" y="579120"/>
            <a:chExt cx="436880" cy="436880"/>
          </a:xfrm>
          <a:solidFill>
            <a:schemeClr val="bg1">
              <a:alpha val="40000"/>
            </a:schemeClr>
          </a:solidFill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6812E72-AFA0-4456-B1F3-72F384286B46}"/>
                </a:ext>
              </a:extLst>
            </p:cNvPr>
            <p:cNvSpPr/>
            <p:nvPr/>
          </p:nvSpPr>
          <p:spPr>
            <a:xfrm>
              <a:off x="2164080" y="579120"/>
              <a:ext cx="436880" cy="436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DD53B9C-A402-4E71-81B1-C9F2C21CBB00}"/>
                </a:ext>
              </a:extLst>
            </p:cNvPr>
            <p:cNvSpPr/>
            <p:nvPr/>
          </p:nvSpPr>
          <p:spPr>
            <a:xfrm>
              <a:off x="2259330" y="674370"/>
              <a:ext cx="246380" cy="2463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B854B977-2E1D-4B1E-AC06-48924CAAA0F4}"/>
              </a:ext>
            </a:extLst>
          </p:cNvPr>
          <p:cNvSpPr txBox="1"/>
          <p:nvPr/>
        </p:nvSpPr>
        <p:spPr>
          <a:xfrm>
            <a:off x="1127760" y="353070"/>
            <a:ext cx="2804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600" dirty="0">
                <a:solidFill>
                  <a:schemeClr val="bg1"/>
                </a:solidFill>
                <a:cs typeface="+mn-ea"/>
                <a:sym typeface="+mn-lt"/>
              </a:rPr>
              <a:t>环境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B708BD-4F99-4623-ADD2-5DA9A18C6CD7}"/>
              </a:ext>
            </a:extLst>
          </p:cNvPr>
          <p:cNvSpPr txBox="1"/>
          <p:nvPr/>
        </p:nvSpPr>
        <p:spPr>
          <a:xfrm>
            <a:off x="1966452" y="1799239"/>
            <a:ext cx="80132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FFC000"/>
                </a:solidFill>
                <a:latin typeface="+mj-ea"/>
                <a:ea typeface="+mj-ea"/>
              </a:rPr>
              <a:t>传统的生产营销体系</a:t>
            </a:r>
            <a:endParaRPr lang="en-US" altLang="zh-CN" sz="4800" b="1" dirty="0">
              <a:solidFill>
                <a:srgbClr val="FFC000"/>
              </a:solidFill>
              <a:latin typeface="+mj-ea"/>
              <a:ea typeface="+mj-ea"/>
            </a:endParaRPr>
          </a:p>
          <a:p>
            <a:pPr algn="ctr"/>
            <a:r>
              <a:rPr lang="en-US" altLang="zh-CN" sz="4800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  <a:p>
            <a:pPr algn="ctr"/>
            <a:r>
              <a:rPr lang="zh-CN" altLang="en-US" sz="4800" b="1" dirty="0">
                <a:solidFill>
                  <a:srgbClr val="FFC000"/>
                </a:solidFill>
                <a:latin typeface="+mj-ea"/>
                <a:ea typeface="+mj-ea"/>
              </a:rPr>
              <a:t>传统的互联网传播体系</a:t>
            </a:r>
            <a:endParaRPr lang="en-US" altLang="zh-CN" sz="4800" b="1" dirty="0">
              <a:solidFill>
                <a:srgbClr val="FFC000"/>
              </a:solidFill>
              <a:latin typeface="+mj-ea"/>
              <a:ea typeface="+mj-ea"/>
            </a:endParaRPr>
          </a:p>
          <a:p>
            <a:pPr algn="ctr"/>
            <a:r>
              <a:rPr lang="en-US" altLang="zh-CN" sz="4800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  <a:p>
            <a:pPr algn="ctr"/>
            <a:r>
              <a:rPr lang="zh-CN" altLang="en-US" sz="4800" b="1" dirty="0">
                <a:solidFill>
                  <a:srgbClr val="FFC000"/>
                </a:solidFill>
                <a:latin typeface="+mj-ea"/>
                <a:ea typeface="+mj-ea"/>
              </a:rPr>
              <a:t>蚂蚁市场</a:t>
            </a:r>
          </a:p>
        </p:txBody>
      </p:sp>
    </p:spTree>
    <p:extLst>
      <p:ext uri="{BB962C8B-B14F-4D97-AF65-F5344CB8AC3E}">
        <p14:creationId xmlns:p14="http://schemas.microsoft.com/office/powerpoint/2010/main" val="25333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C9D9329-65A9-4E47-ABA8-53B745294C45}"/>
              </a:ext>
            </a:extLst>
          </p:cNvPr>
          <p:cNvGrpSpPr/>
          <p:nvPr/>
        </p:nvGrpSpPr>
        <p:grpSpPr>
          <a:xfrm>
            <a:off x="452532" y="536449"/>
            <a:ext cx="436880" cy="436880"/>
            <a:chOff x="2164080" y="579120"/>
            <a:chExt cx="436880" cy="436880"/>
          </a:xfrm>
          <a:solidFill>
            <a:schemeClr val="bg1">
              <a:alpha val="40000"/>
            </a:schemeClr>
          </a:solidFill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6812E72-AFA0-4456-B1F3-72F384286B46}"/>
                </a:ext>
              </a:extLst>
            </p:cNvPr>
            <p:cNvSpPr/>
            <p:nvPr/>
          </p:nvSpPr>
          <p:spPr>
            <a:xfrm>
              <a:off x="2164080" y="579120"/>
              <a:ext cx="436880" cy="436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DD53B9C-A402-4E71-81B1-C9F2C21CBB00}"/>
                </a:ext>
              </a:extLst>
            </p:cNvPr>
            <p:cNvSpPr/>
            <p:nvPr/>
          </p:nvSpPr>
          <p:spPr>
            <a:xfrm>
              <a:off x="2259330" y="674370"/>
              <a:ext cx="246380" cy="2463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B854B977-2E1D-4B1E-AC06-48924CAAA0F4}"/>
              </a:ext>
            </a:extLst>
          </p:cNvPr>
          <p:cNvSpPr txBox="1"/>
          <p:nvPr/>
        </p:nvSpPr>
        <p:spPr>
          <a:xfrm>
            <a:off x="1127760" y="353070"/>
            <a:ext cx="2804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600" dirty="0">
                <a:solidFill>
                  <a:schemeClr val="bg1"/>
                </a:solidFill>
                <a:cs typeface="+mn-ea"/>
                <a:sym typeface="+mn-lt"/>
              </a:rPr>
              <a:t>价值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B708BD-4F99-4623-ADD2-5DA9A18C6CD7}"/>
              </a:ext>
            </a:extLst>
          </p:cNvPr>
          <p:cNvSpPr txBox="1"/>
          <p:nvPr/>
        </p:nvSpPr>
        <p:spPr>
          <a:xfrm>
            <a:off x="3298722" y="2191391"/>
            <a:ext cx="5594556" cy="155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7200" dirty="0">
                <a:solidFill>
                  <a:srgbClr val="FFC000"/>
                </a:solidFill>
                <a:latin typeface="+mj-ea"/>
                <a:ea typeface="+mj-ea"/>
              </a:rPr>
              <a:t>社会价值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174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B854B977-2E1D-4B1E-AC06-48924CAAA0F4}"/>
              </a:ext>
            </a:extLst>
          </p:cNvPr>
          <p:cNvSpPr txBox="1"/>
          <p:nvPr/>
        </p:nvSpPr>
        <p:spPr>
          <a:xfrm>
            <a:off x="1123252" y="431723"/>
            <a:ext cx="5241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spc="600" dirty="0">
                <a:solidFill>
                  <a:schemeClr val="bg1"/>
                </a:solidFill>
                <a:cs typeface="+mn-ea"/>
                <a:sym typeface="+mn-lt"/>
              </a:rPr>
              <a:t>新空间科技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B708BD-4F99-4623-ADD2-5DA9A18C6CD7}"/>
              </a:ext>
            </a:extLst>
          </p:cNvPr>
          <p:cNvSpPr txBox="1"/>
          <p:nvPr/>
        </p:nvSpPr>
        <p:spPr>
          <a:xfrm>
            <a:off x="1803812" y="3702366"/>
            <a:ext cx="9345968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>
                <a:solidFill>
                  <a:srgbClr val="FFC000"/>
                </a:solidFill>
                <a:latin typeface="+mj-ea"/>
                <a:ea typeface="+mj-ea"/>
              </a:rPr>
              <a:t>信息科技</a:t>
            </a:r>
            <a:r>
              <a:rPr lang="en-US" altLang="zh-CN" sz="4800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CN" altLang="en-US" sz="4800" b="1" dirty="0">
                <a:solidFill>
                  <a:srgbClr val="FFC000"/>
                </a:solidFill>
                <a:latin typeface="+mj-ea"/>
                <a:ea typeface="+mj-ea"/>
              </a:rPr>
              <a:t>数据应用</a:t>
            </a:r>
            <a:r>
              <a:rPr lang="en-US" altLang="zh-CN" sz="4800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CN" altLang="en-US" sz="4800" b="1" dirty="0">
                <a:solidFill>
                  <a:srgbClr val="FFC000"/>
                </a:solidFill>
                <a:latin typeface="+mj-ea"/>
                <a:ea typeface="+mj-ea"/>
              </a:rPr>
              <a:t>金融服务            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90F189-4A51-4EC2-869A-B2E862A85938}"/>
              </a:ext>
            </a:extLst>
          </p:cNvPr>
          <p:cNvSpPr txBox="1"/>
          <p:nvPr/>
        </p:nvSpPr>
        <p:spPr>
          <a:xfrm>
            <a:off x="3977495" y="2163428"/>
            <a:ext cx="4237009" cy="988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+mj-ea"/>
                <a:ea typeface="+mj-ea"/>
              </a:rPr>
              <a:t>线上线下一体化             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D038229-0216-4CE5-B218-E888A3C87B4A}"/>
              </a:ext>
            </a:extLst>
          </p:cNvPr>
          <p:cNvGrpSpPr/>
          <p:nvPr/>
        </p:nvGrpSpPr>
        <p:grpSpPr>
          <a:xfrm>
            <a:off x="452532" y="536449"/>
            <a:ext cx="436880" cy="436880"/>
            <a:chOff x="2164080" y="579120"/>
            <a:chExt cx="436880" cy="436880"/>
          </a:xfrm>
          <a:solidFill>
            <a:schemeClr val="bg1">
              <a:alpha val="40000"/>
            </a:schemeClr>
          </a:solidFill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AADA96E-97F6-43FB-AABA-7BE2449944E8}"/>
                </a:ext>
              </a:extLst>
            </p:cNvPr>
            <p:cNvSpPr/>
            <p:nvPr/>
          </p:nvSpPr>
          <p:spPr>
            <a:xfrm>
              <a:off x="2164080" y="579120"/>
              <a:ext cx="436880" cy="436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D8E8EE7-DEDC-4539-A429-0778B1BB6387}"/>
                </a:ext>
              </a:extLst>
            </p:cNvPr>
            <p:cNvSpPr/>
            <p:nvPr/>
          </p:nvSpPr>
          <p:spPr>
            <a:xfrm>
              <a:off x="2259330" y="674370"/>
              <a:ext cx="246380" cy="2463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82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C5E58D42-AADE-416D-9623-228E87EA4BA2}"/>
              </a:ext>
            </a:extLst>
          </p:cNvPr>
          <p:cNvSpPr/>
          <p:nvPr/>
        </p:nvSpPr>
        <p:spPr>
          <a:xfrm>
            <a:off x="0" y="0"/>
            <a:ext cx="12192000" cy="620688"/>
          </a:xfrm>
          <a:prstGeom prst="rect">
            <a:avLst/>
          </a:prstGeom>
          <a:ln w="19050"/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业务模式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0DA243D-53C2-46ED-A425-5907616EDCA2}"/>
              </a:ext>
            </a:extLst>
          </p:cNvPr>
          <p:cNvSpPr txBox="1"/>
          <p:nvPr/>
        </p:nvSpPr>
        <p:spPr>
          <a:xfrm>
            <a:off x="3071664" y="692696"/>
            <a:ext cx="8200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打开业务边界：品牌共赢     渠道共享     流量互通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B343144-EABF-4612-A041-67C210FFEB3B}"/>
              </a:ext>
            </a:extLst>
          </p:cNvPr>
          <p:cNvSpPr/>
          <p:nvPr/>
        </p:nvSpPr>
        <p:spPr>
          <a:xfrm>
            <a:off x="3025065" y="1124744"/>
            <a:ext cx="5728914" cy="5728914"/>
          </a:xfrm>
          <a:prstGeom prst="ellipse">
            <a:avLst/>
          </a:prstGeom>
          <a:noFill/>
          <a:ln w="952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1F9F693-3F70-4113-8CBF-CBC51DC25512}"/>
              </a:ext>
            </a:extLst>
          </p:cNvPr>
          <p:cNvSpPr/>
          <p:nvPr/>
        </p:nvSpPr>
        <p:spPr>
          <a:xfrm>
            <a:off x="4095135" y="1812488"/>
            <a:ext cx="3588774" cy="619423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00A35AA-01B9-41ED-AB09-825CD970EFA3}"/>
              </a:ext>
            </a:extLst>
          </p:cNvPr>
          <p:cNvSpPr/>
          <p:nvPr/>
        </p:nvSpPr>
        <p:spPr>
          <a:xfrm>
            <a:off x="2880027" y="4212600"/>
            <a:ext cx="1446988" cy="688217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需求方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C17518-5AFE-4CF7-80F5-A0D5F7E56BC5}"/>
              </a:ext>
            </a:extLst>
          </p:cNvPr>
          <p:cNvSpPr/>
          <p:nvPr/>
        </p:nvSpPr>
        <p:spPr>
          <a:xfrm>
            <a:off x="7474139" y="4252020"/>
            <a:ext cx="1446988" cy="688217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提供方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31821B2-1F54-4317-9D2E-9A8F3CFD271B}"/>
              </a:ext>
            </a:extLst>
          </p:cNvPr>
          <p:cNvCxnSpPr>
            <a:cxnSpLocks/>
          </p:cNvCxnSpPr>
          <p:nvPr/>
        </p:nvCxnSpPr>
        <p:spPr>
          <a:xfrm flipV="1">
            <a:off x="3832121" y="2431912"/>
            <a:ext cx="1423221" cy="174953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EFB26B76-64FD-4793-95F4-5A84080E7EDC}"/>
              </a:ext>
            </a:extLst>
          </p:cNvPr>
          <p:cNvSpPr txBox="1"/>
          <p:nvPr/>
        </p:nvSpPr>
        <p:spPr>
          <a:xfrm rot="18488204">
            <a:off x="3950093" y="3193131"/>
            <a:ext cx="1552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服务需求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1FDECCD-7C2B-4BB1-9A02-D765446E0165}"/>
              </a:ext>
            </a:extLst>
          </p:cNvPr>
          <p:cNvCxnSpPr>
            <a:cxnSpLocks/>
          </p:cNvCxnSpPr>
          <p:nvPr/>
        </p:nvCxnSpPr>
        <p:spPr>
          <a:xfrm flipH="1">
            <a:off x="3287243" y="2431911"/>
            <a:ext cx="1496151" cy="173612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F9566EA-16F7-499A-ACC0-C27D6DCEE935}"/>
              </a:ext>
            </a:extLst>
          </p:cNvPr>
          <p:cNvSpPr txBox="1"/>
          <p:nvPr/>
        </p:nvSpPr>
        <p:spPr>
          <a:xfrm rot="18576481">
            <a:off x="2674288" y="3046508"/>
            <a:ext cx="2352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信息流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D9FB3C6-2F3F-48BC-AFD1-D409B3E066F9}"/>
              </a:ext>
            </a:extLst>
          </p:cNvPr>
          <p:cNvCxnSpPr>
            <a:cxnSpLocks/>
          </p:cNvCxnSpPr>
          <p:nvPr/>
        </p:nvCxnSpPr>
        <p:spPr>
          <a:xfrm flipH="1" flipV="1">
            <a:off x="6356555" y="2451533"/>
            <a:ext cx="1542018" cy="172744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F8A2BD8-61B5-4026-9CEF-01039A0597E8}"/>
              </a:ext>
            </a:extLst>
          </p:cNvPr>
          <p:cNvSpPr txBox="1"/>
          <p:nvPr/>
        </p:nvSpPr>
        <p:spPr>
          <a:xfrm rot="2932687">
            <a:off x="6497341" y="3426887"/>
            <a:ext cx="12166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67E1BDA-5F2D-4301-8387-8D5065F04F45}"/>
              </a:ext>
            </a:extLst>
          </p:cNvPr>
          <p:cNvCxnSpPr>
            <a:cxnSpLocks/>
          </p:cNvCxnSpPr>
          <p:nvPr/>
        </p:nvCxnSpPr>
        <p:spPr>
          <a:xfrm>
            <a:off x="6936657" y="2421467"/>
            <a:ext cx="1637072" cy="180066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90874B5-8853-4EEF-874D-919003F2A0AF}"/>
              </a:ext>
            </a:extLst>
          </p:cNvPr>
          <p:cNvSpPr txBox="1"/>
          <p:nvPr/>
        </p:nvSpPr>
        <p:spPr>
          <a:xfrm rot="2846951">
            <a:off x="6950524" y="3177901"/>
            <a:ext cx="2202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信息流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C44AA47-B39D-480B-91C5-C0B3ECFD7A8C}"/>
              </a:ext>
            </a:extLst>
          </p:cNvPr>
          <p:cNvCxnSpPr>
            <a:cxnSpLocks/>
          </p:cNvCxnSpPr>
          <p:nvPr/>
        </p:nvCxnSpPr>
        <p:spPr>
          <a:xfrm>
            <a:off x="4322100" y="4548233"/>
            <a:ext cx="3152039" cy="11805"/>
          </a:xfrm>
          <a:prstGeom prst="straightConnector1">
            <a:avLst/>
          </a:prstGeom>
          <a:ln w="381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8A3406F-4C60-4D00-BEF4-AB4D9737D3B1}"/>
              </a:ext>
            </a:extLst>
          </p:cNvPr>
          <p:cNvSpPr txBox="1"/>
          <p:nvPr/>
        </p:nvSpPr>
        <p:spPr>
          <a:xfrm>
            <a:off x="5648631" y="4570905"/>
            <a:ext cx="84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FF2AF45-EDBF-40E6-A614-21E2ACB0D7FE}"/>
              </a:ext>
            </a:extLst>
          </p:cNvPr>
          <p:cNvSpPr txBox="1"/>
          <p:nvPr/>
        </p:nvSpPr>
        <p:spPr>
          <a:xfrm>
            <a:off x="2880027" y="5001253"/>
            <a:ext cx="5928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商家、投资人、专业渠道商、开发商、装修</a:t>
            </a: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家居机构</a:t>
            </a:r>
          </a:p>
          <a:p>
            <a:pPr algn="dist"/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BD35C06-13B1-415D-AB40-9D53DB34D95D}"/>
              </a:ext>
            </a:extLst>
          </p:cNvPr>
          <p:cNvSpPr/>
          <p:nvPr/>
        </p:nvSpPr>
        <p:spPr>
          <a:xfrm>
            <a:off x="5343830" y="2937238"/>
            <a:ext cx="1184904" cy="1184904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经纪人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216BE29-31F5-4166-BBAC-93B7A009667B}"/>
              </a:ext>
            </a:extLst>
          </p:cNvPr>
          <p:cNvSpPr txBox="1"/>
          <p:nvPr/>
        </p:nvSpPr>
        <p:spPr>
          <a:xfrm>
            <a:off x="4970208" y="5928309"/>
            <a:ext cx="1966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金融业务</a:t>
            </a:r>
          </a:p>
        </p:txBody>
      </p:sp>
    </p:spTree>
    <p:extLst>
      <p:ext uri="{BB962C8B-B14F-4D97-AF65-F5344CB8AC3E}">
        <p14:creationId xmlns:p14="http://schemas.microsoft.com/office/powerpoint/2010/main" val="411599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22A90570-3F7A-45C8-83B6-CFCB0D8D7068}"/>
              </a:ext>
            </a:extLst>
          </p:cNvPr>
          <p:cNvSpPr/>
          <p:nvPr/>
        </p:nvSpPr>
        <p:spPr>
          <a:xfrm>
            <a:off x="0" y="0"/>
            <a:ext cx="12192000" cy="620688"/>
          </a:xfrm>
          <a:prstGeom prst="rect">
            <a:avLst/>
          </a:prstGeom>
          <a:ln w="19050"/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商业模式</a:t>
            </a:r>
          </a:p>
        </p:txBody>
      </p:sp>
      <p:sp>
        <p:nvSpPr>
          <p:cNvPr id="29" name="MH_Title_1">
            <a:extLst>
              <a:ext uri="{FF2B5EF4-FFF2-40B4-BE49-F238E27FC236}">
                <a16:creationId xmlns:a16="http://schemas.microsoft.com/office/drawing/2014/main" id="{B09C7314-D989-461B-A59D-1A8523ED16F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199704" y="1953391"/>
            <a:ext cx="3792591" cy="379259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F77C71C-840D-404D-9CEF-5B896C42A18C}"/>
              </a:ext>
            </a:extLst>
          </p:cNvPr>
          <p:cNvSpPr/>
          <p:nvPr/>
        </p:nvSpPr>
        <p:spPr>
          <a:xfrm>
            <a:off x="3597438" y="1365412"/>
            <a:ext cx="4968552" cy="4968552"/>
          </a:xfrm>
          <a:prstGeom prst="ellipse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D2341AF-476C-4ECA-810C-015845B34EAA}"/>
              </a:ext>
            </a:extLst>
          </p:cNvPr>
          <p:cNvSpPr/>
          <p:nvPr/>
        </p:nvSpPr>
        <p:spPr>
          <a:xfrm>
            <a:off x="5050804" y="5840216"/>
            <a:ext cx="2160240" cy="360040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金融服务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31ED88F-F272-4F5E-B1B8-168769C64845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4199704" y="3849686"/>
            <a:ext cx="3808232" cy="1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A295546F-AD06-4325-91B4-6CFC92CE2AA9}"/>
              </a:ext>
            </a:extLst>
          </p:cNvPr>
          <p:cNvSpPr/>
          <p:nvPr/>
        </p:nvSpPr>
        <p:spPr>
          <a:xfrm>
            <a:off x="3015961" y="734724"/>
            <a:ext cx="6229927" cy="6229927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B575DB9-4AC3-49F3-B761-9F5239F17061}"/>
              </a:ext>
            </a:extLst>
          </p:cNvPr>
          <p:cNvSpPr/>
          <p:nvPr/>
        </p:nvSpPr>
        <p:spPr>
          <a:xfrm>
            <a:off x="4325096" y="963172"/>
            <a:ext cx="3667199" cy="44551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大数据驱动产业升级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4C30A7C-48D5-4C16-94A5-590033262F60}"/>
              </a:ext>
            </a:extLst>
          </p:cNvPr>
          <p:cNvSpPr txBox="1"/>
          <p:nvPr/>
        </p:nvSpPr>
        <p:spPr>
          <a:xfrm>
            <a:off x="4921250" y="2761226"/>
            <a:ext cx="2433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线上信息发布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DDCC2ED-A08A-4217-96C7-2B266A6BAF2A}"/>
              </a:ext>
            </a:extLst>
          </p:cNvPr>
          <p:cNvSpPr txBox="1"/>
          <p:nvPr/>
        </p:nvSpPr>
        <p:spPr>
          <a:xfrm>
            <a:off x="5013385" y="4370457"/>
            <a:ext cx="2433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线下撮合交易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70B54B-8579-4DD6-878A-60524594071D}"/>
              </a:ext>
            </a:extLst>
          </p:cNvPr>
          <p:cNvSpPr/>
          <p:nvPr/>
        </p:nvSpPr>
        <p:spPr>
          <a:xfrm>
            <a:off x="4462629" y="3607930"/>
            <a:ext cx="3194053" cy="4424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n-ea"/>
              </a:rPr>
              <a:t>平台</a:t>
            </a:r>
          </a:p>
        </p:txBody>
      </p:sp>
    </p:spTree>
    <p:extLst>
      <p:ext uri="{BB962C8B-B14F-4D97-AF65-F5344CB8AC3E}">
        <p14:creationId xmlns:p14="http://schemas.microsoft.com/office/powerpoint/2010/main" val="262212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21249F-51F7-4C56-99AB-AD83CC4953A0}"/>
              </a:ext>
            </a:extLst>
          </p:cNvPr>
          <p:cNvGrpSpPr/>
          <p:nvPr/>
        </p:nvGrpSpPr>
        <p:grpSpPr>
          <a:xfrm>
            <a:off x="7716643" y="-161260"/>
            <a:ext cx="4237009" cy="2269178"/>
            <a:chOff x="5917425" y="3435846"/>
            <a:chExt cx="3226575" cy="170765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FCB240-D0C2-4233-B166-48E5D62CEE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CD94D8B-249F-4207-96B1-5A69038E4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47" b="26929"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BF26DE-D2E9-4083-AF9D-F07BA4202D4A}"/>
              </a:ext>
            </a:extLst>
          </p:cNvPr>
          <p:cNvGrpSpPr/>
          <p:nvPr/>
        </p:nvGrpSpPr>
        <p:grpSpPr>
          <a:xfrm>
            <a:off x="0" y="0"/>
            <a:ext cx="12192000" cy="6883789"/>
            <a:chOff x="0" y="0"/>
            <a:chExt cx="12192000" cy="688378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810E595-1A91-4D0D-BD87-9193D32F442C}"/>
                </a:ext>
              </a:extLst>
            </p:cNvPr>
            <p:cNvGrpSpPr/>
            <p:nvPr/>
          </p:nvGrpSpPr>
          <p:grpSpPr>
            <a:xfrm flipH="1">
              <a:off x="490795" y="4685672"/>
              <a:ext cx="4031795" cy="2198117"/>
              <a:chOff x="5917425" y="3435846"/>
              <a:chExt cx="3226575" cy="1707654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C7E4D5E-D532-41DE-9ED9-158742CC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7C05219-BE4B-4E25-B2EA-27F5CD0B4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647" b="26929"/>
              <a:stretch>
                <a:fillRect/>
              </a:stretch>
            </p:blipFill>
            <p:spPr bwMode="auto">
              <a:xfrm>
                <a:off x="5917425" y="3435846"/>
                <a:ext cx="3226575" cy="1707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C7784FE-CBCD-408B-A89D-BD878E567AC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3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286D1DEE-7B89-454E-896D-84B5964442F8}"/>
              </a:ext>
            </a:extLst>
          </p:cNvPr>
          <p:cNvSpPr txBox="1"/>
          <p:nvPr/>
        </p:nvSpPr>
        <p:spPr>
          <a:xfrm>
            <a:off x="2251339" y="2172328"/>
            <a:ext cx="72859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谢谢大家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752AEE3-1004-4DF7-AE52-1E6444849BDB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1CAC6BE-46C0-4245-9B29-7765FE2F60E3}"/>
              </a:ext>
            </a:extLst>
          </p:cNvPr>
          <p:cNvSpPr txBox="1"/>
          <p:nvPr/>
        </p:nvSpPr>
        <p:spPr>
          <a:xfrm>
            <a:off x="4835910" y="5384620"/>
            <a:ext cx="3146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新空间科技  总裁  毛玉峰</a:t>
            </a:r>
          </a:p>
        </p:txBody>
      </p:sp>
    </p:spTree>
    <p:extLst>
      <p:ext uri="{BB962C8B-B14F-4D97-AF65-F5344CB8AC3E}">
        <p14:creationId xmlns:p14="http://schemas.microsoft.com/office/powerpoint/2010/main" val="375463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27234423"/>
  <p:tag name="MH_LIBRARY" val="GRAPHIC"/>
  <p:tag name="MH_TYPE" val="Title"/>
  <p:tag name="MH_ORDER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3hez2gk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197</Words>
  <Application>Microsoft Office PowerPoint</Application>
  <PresentationFormat>宽屏</PresentationFormat>
  <Paragraphs>50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微软雅黑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尹化戈</cp:lastModifiedBy>
  <cp:revision>27</cp:revision>
  <dcterms:created xsi:type="dcterms:W3CDTF">2017-07-17T12:21:00Z</dcterms:created>
  <dcterms:modified xsi:type="dcterms:W3CDTF">2019-01-05T02:14:40Z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2052-10.1.0.6660</vt:lpwstr>
  </property>
</Properties>
</file>