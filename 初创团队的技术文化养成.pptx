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3" r:id="rId2"/>
    <p:sldId id="295" r:id="rId3"/>
    <p:sldId id="296" r:id="rId4"/>
    <p:sldId id="300" r:id="rId5"/>
    <p:sldId id="299" r:id="rId6"/>
    <p:sldId id="301" r:id="rId7"/>
    <p:sldId id="302" r:id="rId8"/>
    <p:sldId id="303" r:id="rId9"/>
    <p:sldId id="309" r:id="rId10"/>
    <p:sldId id="298" r:id="rId11"/>
    <p:sldId id="304" r:id="rId12"/>
    <p:sldId id="305" r:id="rId13"/>
    <p:sldId id="306" r:id="rId14"/>
    <p:sldId id="308" r:id="rId15"/>
    <p:sldId id="294" r:id="rId16"/>
  </p:sldIdLst>
  <p:sldSz cx="9144000" cy="5143500" type="screen16x9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11C3"/>
    <a:srgbClr val="414455"/>
    <a:srgbClr val="0E9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197" autoAdjust="0"/>
  </p:normalViewPr>
  <p:slideViewPr>
    <p:cSldViewPr>
      <p:cViewPr varScale="1">
        <p:scale>
          <a:sx n="68" d="100"/>
          <a:sy n="68" d="100"/>
        </p:scale>
        <p:origin x="12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4" d="100"/>
        <a:sy n="18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4A947-B69F-46AB-892A-142D315848C8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64BE4-6ABB-4DFC-88F2-21DB0926A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738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78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477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一、任何事都没有表面看起来那么简单；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二、所有的事都会比你预计的时间长；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三、会出错的事总会出错；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四、如果你担心某种情况发生，那么它就更有可能发生。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672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48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78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89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1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06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29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5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98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1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  <a:t>2019/1/4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64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7734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8244408" y="4299942"/>
            <a:ext cx="864096" cy="792088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84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1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4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Tm="0">
        <p14:vortex dir="r"/>
      </p:transition>
    </mc:Choice>
    <mc:Fallback xmlns=""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手动输入 1"/>
          <p:cNvSpPr/>
          <p:nvPr/>
        </p:nvSpPr>
        <p:spPr>
          <a:xfrm>
            <a:off x="1319781" y="-956642"/>
            <a:ext cx="12100101" cy="886130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73 w 10000"/>
              <a:gd name="connsiteY0" fmla="*/ 725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73 w 10000"/>
              <a:gd name="connsiteY4" fmla="*/ 7251 h 10000"/>
              <a:gd name="connsiteX0" fmla="*/ 73 w 11072"/>
              <a:gd name="connsiteY0" fmla="*/ 19226 h 21975"/>
              <a:gd name="connsiteX1" fmla="*/ 11072 w 11072"/>
              <a:gd name="connsiteY1" fmla="*/ 0 h 21975"/>
              <a:gd name="connsiteX2" fmla="*/ 10000 w 11072"/>
              <a:gd name="connsiteY2" fmla="*/ 21975 h 21975"/>
              <a:gd name="connsiteX3" fmla="*/ 0 w 11072"/>
              <a:gd name="connsiteY3" fmla="*/ 21975 h 21975"/>
              <a:gd name="connsiteX4" fmla="*/ 73 w 11072"/>
              <a:gd name="connsiteY4" fmla="*/ 19226 h 2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72" h="21975">
                <a:moveTo>
                  <a:pt x="73" y="19226"/>
                </a:moveTo>
                <a:lnTo>
                  <a:pt x="11072" y="0"/>
                </a:lnTo>
                <a:cubicBezTo>
                  <a:pt x="10715" y="7325"/>
                  <a:pt x="10357" y="14650"/>
                  <a:pt x="10000" y="21975"/>
                </a:cubicBezTo>
                <a:lnTo>
                  <a:pt x="0" y="21975"/>
                </a:lnTo>
                <a:cubicBezTo>
                  <a:pt x="24" y="21059"/>
                  <a:pt x="49" y="20142"/>
                  <a:pt x="73" y="19226"/>
                </a:cubicBezTo>
                <a:close/>
              </a:path>
            </a:pathLst>
          </a:custGeom>
          <a:solidFill>
            <a:srgbClr val="BF11C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516216" y="4012238"/>
            <a:ext cx="2465393" cy="476541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b="1" dirty="0" smtClean="0">
                <a:solidFill>
                  <a:schemeClr val="bg1"/>
                </a:solidFill>
              </a:rPr>
              <a:t>王海波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559" y="1851670"/>
            <a:ext cx="7270340" cy="1046761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b="1" dirty="0" smtClean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初创团队的技术文化养成</a:t>
            </a:r>
            <a:endParaRPr lang="zh-CN" altLang="en-US" sz="4800" b="1" dirty="0">
              <a:solidFill>
                <a:schemeClr val="bg1"/>
              </a:solidFill>
              <a:effectLst>
                <a:outerShdw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latin typeface="微软雅黑" pitchFamily="34" charset="-122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>
                  <a:spLocks/>
                </p:cNvSpPr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32" name="AutoShape 121"/>
                <p:cNvSpPr>
                  <a:spLocks/>
                </p:cNvSpPr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33" name="AutoShape 122"/>
                <p:cNvSpPr>
                  <a:spLocks/>
                </p:cNvSpPr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8" name="AutoShape 112"/>
              <p:cNvSpPr>
                <a:spLocks/>
              </p:cNvSpPr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17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>
                  <a:spLocks/>
                </p:cNvSpPr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4" name="AutoShape 53"/>
                <p:cNvSpPr>
                  <a:spLocks/>
                </p:cNvSpPr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5" name="AutoShape 54"/>
                <p:cNvSpPr>
                  <a:spLocks/>
                </p:cNvSpPr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6" name="AutoShape 55"/>
                <p:cNvSpPr>
                  <a:spLocks/>
                </p:cNvSpPr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6" t="30729" r="16584" b="31672"/>
          <a:stretch/>
        </p:blipFill>
        <p:spPr>
          <a:xfrm>
            <a:off x="0" y="118324"/>
            <a:ext cx="1872207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6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30"/>
                            </p:stCondLst>
                            <p:childTnLst>
                              <p:par>
                                <p:cTn id="20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组合 32"/>
          <p:cNvGrpSpPr/>
          <p:nvPr/>
        </p:nvGrpSpPr>
        <p:grpSpPr>
          <a:xfrm>
            <a:off x="4348375" y="2817231"/>
            <a:ext cx="3752018" cy="494397"/>
            <a:chOff x="5433441" y="2859066"/>
            <a:chExt cx="4566902" cy="659349"/>
          </a:xfrm>
          <a:solidFill>
            <a:srgbClr val="7030A0"/>
          </a:solidFill>
          <a:effectLst>
            <a:outerShdw blurRad="76200" dist="635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105" name="五边形 104"/>
            <p:cNvSpPr/>
            <p:nvPr/>
          </p:nvSpPr>
          <p:spPr>
            <a:xfrm flipH="1">
              <a:off x="5433441" y="2859066"/>
              <a:ext cx="4566902" cy="6593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06" name="淘宝店chenying0907出品 9"/>
            <p:cNvSpPr txBox="1"/>
            <p:nvPr/>
          </p:nvSpPr>
          <p:spPr>
            <a:xfrm>
              <a:off x="6004791" y="2989558"/>
              <a:ext cx="3164280" cy="377236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技术文化如何养成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KSO_Shape"/>
            <p:cNvSpPr>
              <a:spLocks/>
            </p:cNvSpPr>
            <p:nvPr/>
          </p:nvSpPr>
          <p:spPr bwMode="auto">
            <a:xfrm>
              <a:off x="9487964" y="3010683"/>
              <a:ext cx="359710" cy="356111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lIns="68580" tIns="34290" rIns="68580" bIns="34290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08" name="组合 31"/>
          <p:cNvGrpSpPr/>
          <p:nvPr/>
        </p:nvGrpSpPr>
        <p:grpSpPr>
          <a:xfrm>
            <a:off x="4340595" y="1762344"/>
            <a:ext cx="3759798" cy="494397"/>
            <a:chOff x="5433441" y="1258764"/>
            <a:chExt cx="4566902" cy="659349"/>
          </a:xfrm>
          <a:solidFill>
            <a:schemeClr val="accent1">
              <a:lumMod val="50000"/>
            </a:schemeClr>
          </a:solidFill>
          <a:effectLst>
            <a:outerShdw blurRad="76200" dist="635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109" name="五边形 108"/>
            <p:cNvSpPr/>
            <p:nvPr/>
          </p:nvSpPr>
          <p:spPr>
            <a:xfrm flipH="1">
              <a:off x="5433441" y="1258764"/>
              <a:ext cx="4566902" cy="6593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0" name="淘宝店chenying0907出品 9"/>
            <p:cNvSpPr txBox="1"/>
            <p:nvPr/>
          </p:nvSpPr>
          <p:spPr>
            <a:xfrm>
              <a:off x="6012378" y="1389258"/>
              <a:ext cx="3857485" cy="36941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marL="0" lvl="1"/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我们想要什么样的技术文化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淘宝店chenying0907出品 151"/>
            <p:cNvSpPr>
              <a:spLocks noEditPoints="1"/>
            </p:cNvSpPr>
            <p:nvPr/>
          </p:nvSpPr>
          <p:spPr bwMode="auto">
            <a:xfrm>
              <a:off x="9548014" y="1424796"/>
              <a:ext cx="240986" cy="360766"/>
            </a:xfrm>
            <a:custGeom>
              <a:avLst/>
              <a:gdLst>
                <a:gd name="T0" fmla="*/ 72 w 143"/>
                <a:gd name="T1" fmla="*/ 214 h 214"/>
                <a:gd name="T2" fmla="*/ 96 w 143"/>
                <a:gd name="T3" fmla="*/ 204 h 214"/>
                <a:gd name="T4" fmla="*/ 48 w 143"/>
                <a:gd name="T5" fmla="*/ 204 h 214"/>
                <a:gd name="T6" fmla="*/ 72 w 143"/>
                <a:gd name="T7" fmla="*/ 214 h 214"/>
                <a:gd name="T8" fmla="*/ 105 w 143"/>
                <a:gd name="T9" fmla="*/ 183 h 214"/>
                <a:gd name="T10" fmla="*/ 39 w 143"/>
                <a:gd name="T11" fmla="*/ 183 h 214"/>
                <a:gd name="T12" fmla="*/ 33 w 143"/>
                <a:gd name="T13" fmla="*/ 190 h 214"/>
                <a:gd name="T14" fmla="*/ 39 w 143"/>
                <a:gd name="T15" fmla="*/ 196 h 214"/>
                <a:gd name="T16" fmla="*/ 105 w 143"/>
                <a:gd name="T17" fmla="*/ 196 h 214"/>
                <a:gd name="T18" fmla="*/ 111 w 143"/>
                <a:gd name="T19" fmla="*/ 190 h 214"/>
                <a:gd name="T20" fmla="*/ 105 w 143"/>
                <a:gd name="T21" fmla="*/ 183 h 214"/>
                <a:gd name="T22" fmla="*/ 105 w 143"/>
                <a:gd name="T23" fmla="*/ 164 h 214"/>
                <a:gd name="T24" fmla="*/ 39 w 143"/>
                <a:gd name="T25" fmla="*/ 164 h 214"/>
                <a:gd name="T26" fmla="*/ 33 w 143"/>
                <a:gd name="T27" fmla="*/ 171 h 214"/>
                <a:gd name="T28" fmla="*/ 39 w 143"/>
                <a:gd name="T29" fmla="*/ 177 h 214"/>
                <a:gd name="T30" fmla="*/ 105 w 143"/>
                <a:gd name="T31" fmla="*/ 177 h 214"/>
                <a:gd name="T32" fmla="*/ 111 w 143"/>
                <a:gd name="T33" fmla="*/ 171 h 214"/>
                <a:gd name="T34" fmla="*/ 105 w 143"/>
                <a:gd name="T35" fmla="*/ 164 h 214"/>
                <a:gd name="T36" fmla="*/ 72 w 143"/>
                <a:gd name="T37" fmla="*/ 0 h 214"/>
                <a:gd name="T38" fmla="*/ 0 w 143"/>
                <a:gd name="T39" fmla="*/ 71 h 214"/>
                <a:gd name="T40" fmla="*/ 32 w 143"/>
                <a:gd name="T41" fmla="*/ 138 h 214"/>
                <a:gd name="T42" fmla="*/ 37 w 143"/>
                <a:gd name="T43" fmla="*/ 158 h 214"/>
                <a:gd name="T44" fmla="*/ 107 w 143"/>
                <a:gd name="T45" fmla="*/ 158 h 214"/>
                <a:gd name="T46" fmla="*/ 112 w 143"/>
                <a:gd name="T47" fmla="*/ 138 h 214"/>
                <a:gd name="T48" fmla="*/ 143 w 143"/>
                <a:gd name="T49" fmla="*/ 71 h 214"/>
                <a:gd name="T50" fmla="*/ 72 w 143"/>
                <a:gd name="T51" fmla="*/ 0 h 214"/>
                <a:gd name="T52" fmla="*/ 115 w 143"/>
                <a:gd name="T53" fmla="*/ 84 h 214"/>
                <a:gd name="T54" fmla="*/ 93 w 143"/>
                <a:gd name="T55" fmla="*/ 144 h 214"/>
                <a:gd name="T56" fmla="*/ 92 w 143"/>
                <a:gd name="T57" fmla="*/ 146 h 214"/>
                <a:gd name="T58" fmla="*/ 83 w 143"/>
                <a:gd name="T59" fmla="*/ 146 h 214"/>
                <a:gd name="T60" fmla="*/ 83 w 143"/>
                <a:gd name="T61" fmla="*/ 143 h 214"/>
                <a:gd name="T62" fmla="*/ 98 w 143"/>
                <a:gd name="T63" fmla="*/ 93 h 214"/>
                <a:gd name="T64" fmla="*/ 97 w 143"/>
                <a:gd name="T65" fmla="*/ 93 h 214"/>
                <a:gd name="T66" fmla="*/ 96 w 143"/>
                <a:gd name="T67" fmla="*/ 93 h 214"/>
                <a:gd name="T68" fmla="*/ 85 w 143"/>
                <a:gd name="T69" fmla="*/ 88 h 214"/>
                <a:gd name="T70" fmla="*/ 73 w 143"/>
                <a:gd name="T71" fmla="*/ 93 h 214"/>
                <a:gd name="T72" fmla="*/ 59 w 143"/>
                <a:gd name="T73" fmla="*/ 87 h 214"/>
                <a:gd name="T74" fmla="*/ 45 w 143"/>
                <a:gd name="T75" fmla="*/ 92 h 214"/>
                <a:gd name="T76" fmla="*/ 59 w 143"/>
                <a:gd name="T77" fmla="*/ 143 h 214"/>
                <a:gd name="T78" fmla="*/ 60 w 143"/>
                <a:gd name="T79" fmla="*/ 146 h 214"/>
                <a:gd name="T80" fmla="*/ 50 w 143"/>
                <a:gd name="T81" fmla="*/ 146 h 214"/>
                <a:gd name="T82" fmla="*/ 50 w 143"/>
                <a:gd name="T83" fmla="*/ 144 h 214"/>
                <a:gd name="T84" fmla="*/ 30 w 143"/>
                <a:gd name="T85" fmla="*/ 84 h 214"/>
                <a:gd name="T86" fmla="*/ 29 w 143"/>
                <a:gd name="T87" fmla="*/ 84 h 214"/>
                <a:gd name="T88" fmla="*/ 29 w 143"/>
                <a:gd name="T89" fmla="*/ 83 h 214"/>
                <a:gd name="T90" fmla="*/ 29 w 143"/>
                <a:gd name="T91" fmla="*/ 82 h 214"/>
                <a:gd name="T92" fmla="*/ 29 w 143"/>
                <a:gd name="T93" fmla="*/ 82 h 214"/>
                <a:gd name="T94" fmla="*/ 30 w 143"/>
                <a:gd name="T95" fmla="*/ 76 h 214"/>
                <a:gd name="T96" fmla="*/ 37 w 143"/>
                <a:gd name="T97" fmla="*/ 77 h 214"/>
                <a:gd name="T98" fmla="*/ 37 w 143"/>
                <a:gd name="T99" fmla="*/ 77 h 214"/>
                <a:gd name="T100" fmla="*/ 45 w 143"/>
                <a:gd name="T101" fmla="*/ 82 h 214"/>
                <a:gd name="T102" fmla="*/ 56 w 143"/>
                <a:gd name="T103" fmla="*/ 77 h 214"/>
                <a:gd name="T104" fmla="*/ 60 w 143"/>
                <a:gd name="T105" fmla="*/ 75 h 214"/>
                <a:gd name="T106" fmla="*/ 63 w 143"/>
                <a:gd name="T107" fmla="*/ 77 h 214"/>
                <a:gd name="T108" fmla="*/ 73 w 143"/>
                <a:gd name="T109" fmla="*/ 83 h 214"/>
                <a:gd name="T110" fmla="*/ 82 w 143"/>
                <a:gd name="T111" fmla="*/ 78 h 214"/>
                <a:gd name="T112" fmla="*/ 86 w 143"/>
                <a:gd name="T113" fmla="*/ 76 h 214"/>
                <a:gd name="T114" fmla="*/ 90 w 143"/>
                <a:gd name="T115" fmla="*/ 78 h 214"/>
                <a:gd name="T116" fmla="*/ 97 w 143"/>
                <a:gd name="T117" fmla="*/ 83 h 214"/>
                <a:gd name="T118" fmla="*/ 97 w 143"/>
                <a:gd name="T119" fmla="*/ 83 h 214"/>
                <a:gd name="T120" fmla="*/ 107 w 143"/>
                <a:gd name="T121" fmla="*/ 78 h 214"/>
                <a:gd name="T122" fmla="*/ 114 w 143"/>
                <a:gd name="T123" fmla="*/ 77 h 214"/>
                <a:gd name="T124" fmla="*/ 115 w 143"/>
                <a:gd name="T125" fmla="*/ 8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3" h="214">
                  <a:moveTo>
                    <a:pt x="72" y="214"/>
                  </a:moveTo>
                  <a:cubicBezTo>
                    <a:pt x="82" y="214"/>
                    <a:pt x="91" y="210"/>
                    <a:pt x="96" y="204"/>
                  </a:cubicBezTo>
                  <a:cubicBezTo>
                    <a:pt x="48" y="204"/>
                    <a:pt x="48" y="204"/>
                    <a:pt x="48" y="204"/>
                  </a:cubicBezTo>
                  <a:cubicBezTo>
                    <a:pt x="53" y="210"/>
                    <a:pt x="62" y="214"/>
                    <a:pt x="72" y="214"/>
                  </a:cubicBezTo>
                  <a:close/>
                  <a:moveTo>
                    <a:pt x="105" y="183"/>
                  </a:moveTo>
                  <a:cubicBezTo>
                    <a:pt x="39" y="183"/>
                    <a:pt x="39" y="183"/>
                    <a:pt x="39" y="183"/>
                  </a:cubicBezTo>
                  <a:cubicBezTo>
                    <a:pt x="35" y="183"/>
                    <a:pt x="33" y="186"/>
                    <a:pt x="33" y="190"/>
                  </a:cubicBezTo>
                  <a:cubicBezTo>
                    <a:pt x="33" y="193"/>
                    <a:pt x="35" y="196"/>
                    <a:pt x="39" y="196"/>
                  </a:cubicBezTo>
                  <a:cubicBezTo>
                    <a:pt x="105" y="196"/>
                    <a:pt x="105" y="196"/>
                    <a:pt x="105" y="196"/>
                  </a:cubicBezTo>
                  <a:cubicBezTo>
                    <a:pt x="108" y="196"/>
                    <a:pt x="111" y="193"/>
                    <a:pt x="111" y="190"/>
                  </a:cubicBezTo>
                  <a:cubicBezTo>
                    <a:pt x="111" y="186"/>
                    <a:pt x="108" y="183"/>
                    <a:pt x="105" y="183"/>
                  </a:cubicBezTo>
                  <a:close/>
                  <a:moveTo>
                    <a:pt x="105" y="164"/>
                  </a:moveTo>
                  <a:cubicBezTo>
                    <a:pt x="39" y="164"/>
                    <a:pt x="39" y="164"/>
                    <a:pt x="39" y="164"/>
                  </a:cubicBezTo>
                  <a:cubicBezTo>
                    <a:pt x="35" y="164"/>
                    <a:pt x="33" y="167"/>
                    <a:pt x="33" y="171"/>
                  </a:cubicBezTo>
                  <a:cubicBezTo>
                    <a:pt x="33" y="174"/>
                    <a:pt x="35" y="177"/>
                    <a:pt x="39" y="177"/>
                  </a:cubicBezTo>
                  <a:cubicBezTo>
                    <a:pt x="105" y="177"/>
                    <a:pt x="105" y="177"/>
                    <a:pt x="105" y="177"/>
                  </a:cubicBezTo>
                  <a:cubicBezTo>
                    <a:pt x="108" y="177"/>
                    <a:pt x="111" y="174"/>
                    <a:pt x="111" y="171"/>
                  </a:cubicBezTo>
                  <a:cubicBezTo>
                    <a:pt x="111" y="167"/>
                    <a:pt x="108" y="164"/>
                    <a:pt x="105" y="164"/>
                  </a:cubicBezTo>
                  <a:close/>
                  <a:moveTo>
                    <a:pt x="72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98"/>
                    <a:pt x="19" y="117"/>
                    <a:pt x="32" y="138"/>
                  </a:cubicBezTo>
                  <a:cubicBezTo>
                    <a:pt x="35" y="144"/>
                    <a:pt x="37" y="158"/>
                    <a:pt x="37" y="158"/>
                  </a:cubicBezTo>
                  <a:cubicBezTo>
                    <a:pt x="107" y="158"/>
                    <a:pt x="107" y="158"/>
                    <a:pt x="107" y="158"/>
                  </a:cubicBezTo>
                  <a:cubicBezTo>
                    <a:pt x="107" y="158"/>
                    <a:pt x="109" y="144"/>
                    <a:pt x="112" y="138"/>
                  </a:cubicBezTo>
                  <a:cubicBezTo>
                    <a:pt x="125" y="117"/>
                    <a:pt x="143" y="98"/>
                    <a:pt x="143" y="71"/>
                  </a:cubicBezTo>
                  <a:cubicBezTo>
                    <a:pt x="143" y="32"/>
                    <a:pt x="111" y="0"/>
                    <a:pt x="72" y="0"/>
                  </a:cubicBezTo>
                  <a:close/>
                  <a:moveTo>
                    <a:pt x="115" y="84"/>
                  </a:moveTo>
                  <a:cubicBezTo>
                    <a:pt x="102" y="100"/>
                    <a:pt x="95" y="120"/>
                    <a:pt x="93" y="144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83" y="146"/>
                    <a:pt x="83" y="146"/>
                    <a:pt x="83" y="146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5" y="124"/>
                    <a:pt x="90" y="107"/>
                    <a:pt x="98" y="93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96" y="93"/>
                    <a:pt x="96" y="93"/>
                    <a:pt x="96" y="93"/>
                  </a:cubicBezTo>
                  <a:cubicBezTo>
                    <a:pt x="93" y="92"/>
                    <a:pt x="89" y="92"/>
                    <a:pt x="85" y="88"/>
                  </a:cubicBezTo>
                  <a:cubicBezTo>
                    <a:pt x="82" y="91"/>
                    <a:pt x="77" y="93"/>
                    <a:pt x="73" y="93"/>
                  </a:cubicBezTo>
                  <a:cubicBezTo>
                    <a:pt x="68" y="93"/>
                    <a:pt x="63" y="91"/>
                    <a:pt x="59" y="87"/>
                  </a:cubicBezTo>
                  <a:cubicBezTo>
                    <a:pt x="55" y="90"/>
                    <a:pt x="50" y="92"/>
                    <a:pt x="45" y="92"/>
                  </a:cubicBezTo>
                  <a:cubicBezTo>
                    <a:pt x="57" y="114"/>
                    <a:pt x="59" y="137"/>
                    <a:pt x="59" y="143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0" y="146"/>
                    <a:pt x="50" y="146"/>
                    <a:pt x="50" y="146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49" y="135"/>
                    <a:pt x="46" y="107"/>
                    <a:pt x="30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9" y="83"/>
                    <a:pt x="29" y="83"/>
                    <a:pt x="29" y="82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27" y="80"/>
                    <a:pt x="28" y="77"/>
                    <a:pt x="30" y="76"/>
                  </a:cubicBezTo>
                  <a:cubicBezTo>
                    <a:pt x="32" y="74"/>
                    <a:pt x="35" y="75"/>
                    <a:pt x="37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39" y="80"/>
                    <a:pt x="42" y="82"/>
                    <a:pt x="45" y="82"/>
                  </a:cubicBezTo>
                  <a:cubicBezTo>
                    <a:pt x="48" y="82"/>
                    <a:pt x="52" y="81"/>
                    <a:pt x="56" y="77"/>
                  </a:cubicBezTo>
                  <a:cubicBezTo>
                    <a:pt x="57" y="76"/>
                    <a:pt x="58" y="75"/>
                    <a:pt x="60" y="75"/>
                  </a:cubicBezTo>
                  <a:cubicBezTo>
                    <a:pt x="61" y="76"/>
                    <a:pt x="62" y="76"/>
                    <a:pt x="63" y="77"/>
                  </a:cubicBezTo>
                  <a:cubicBezTo>
                    <a:pt x="67" y="81"/>
                    <a:pt x="70" y="83"/>
                    <a:pt x="73" y="83"/>
                  </a:cubicBezTo>
                  <a:cubicBezTo>
                    <a:pt x="77" y="83"/>
                    <a:pt x="80" y="80"/>
                    <a:pt x="82" y="78"/>
                  </a:cubicBezTo>
                  <a:cubicBezTo>
                    <a:pt x="83" y="77"/>
                    <a:pt x="84" y="76"/>
                    <a:pt x="86" y="76"/>
                  </a:cubicBezTo>
                  <a:cubicBezTo>
                    <a:pt x="87" y="76"/>
                    <a:pt x="89" y="77"/>
                    <a:pt x="90" y="78"/>
                  </a:cubicBezTo>
                  <a:cubicBezTo>
                    <a:pt x="91" y="80"/>
                    <a:pt x="93" y="83"/>
                    <a:pt x="97" y="83"/>
                  </a:cubicBezTo>
                  <a:cubicBezTo>
                    <a:pt x="97" y="83"/>
                    <a:pt x="97" y="83"/>
                    <a:pt x="97" y="83"/>
                  </a:cubicBezTo>
                  <a:cubicBezTo>
                    <a:pt x="101" y="83"/>
                    <a:pt x="104" y="81"/>
                    <a:pt x="107" y="78"/>
                  </a:cubicBezTo>
                  <a:cubicBezTo>
                    <a:pt x="109" y="76"/>
                    <a:pt x="112" y="75"/>
                    <a:pt x="114" y="77"/>
                  </a:cubicBezTo>
                  <a:cubicBezTo>
                    <a:pt x="116" y="79"/>
                    <a:pt x="116" y="82"/>
                    <a:pt x="115" y="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/>
          </p:spPr>
          <p:txBody>
            <a:bodyPr lIns="68580" tIns="34290" rIns="68580" bIns="34290"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26" name="组合 47"/>
          <p:cNvGrpSpPr/>
          <p:nvPr/>
        </p:nvGrpSpPr>
        <p:grpSpPr>
          <a:xfrm>
            <a:off x="3419872" y="1593585"/>
            <a:ext cx="913404" cy="857022"/>
            <a:chOff x="4536999" y="1861000"/>
            <a:chExt cx="1217714" cy="1142960"/>
          </a:xfrm>
        </p:grpSpPr>
        <p:grpSp>
          <p:nvGrpSpPr>
            <p:cNvPr id="127" name="组合 43"/>
            <p:cNvGrpSpPr/>
            <p:nvPr/>
          </p:nvGrpSpPr>
          <p:grpSpPr>
            <a:xfrm>
              <a:off x="4609047" y="1861000"/>
              <a:ext cx="1051524" cy="1142960"/>
              <a:chOff x="2785836" y="1252765"/>
              <a:chExt cx="2847975" cy="3095625"/>
            </a:xfrm>
          </p:grpSpPr>
          <p:pic>
            <p:nvPicPr>
              <p:cNvPr id="129" name="Picture 4" descr="C:\Users\Administrator\Desktop\0000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5836" y="1252765"/>
                <a:ext cx="2847975" cy="309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0" name="椭圆 129"/>
              <p:cNvSpPr/>
              <p:nvPr/>
            </p:nvSpPr>
            <p:spPr>
              <a:xfrm>
                <a:off x="3328533" y="1919287"/>
                <a:ext cx="1762580" cy="176258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8" name="70"/>
            <p:cNvSpPr/>
            <p:nvPr/>
          </p:nvSpPr>
          <p:spPr>
            <a:xfrm>
              <a:off x="4536999" y="2192661"/>
              <a:ext cx="1217714" cy="523328"/>
            </a:xfrm>
            <a:prstGeom prst="rect">
              <a:avLst/>
            </a:prstGeom>
          </p:spPr>
          <p:txBody>
            <a:bodyPr wrap="square" lIns="68571" tIns="34285" rIns="68571" bIns="34285">
              <a:spAutoFit/>
            </a:bodyPr>
            <a:lstStyle/>
            <a:p>
              <a:pPr algn="ctr"/>
              <a:r>
                <a:rPr lang="en-US" altLang="zh-CN" sz="2100" b="1" dirty="0" smtClean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  <a:cs typeface="Gisha" panose="020B0502040204020203" pitchFamily="34" charset="-79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endParaRPr>
            </a:p>
          </p:txBody>
        </p:sp>
      </p:grpSp>
      <p:grpSp>
        <p:nvGrpSpPr>
          <p:cNvPr id="131" name="组合 48"/>
          <p:cNvGrpSpPr/>
          <p:nvPr/>
        </p:nvGrpSpPr>
        <p:grpSpPr>
          <a:xfrm>
            <a:off x="3419872" y="2673705"/>
            <a:ext cx="913404" cy="857022"/>
            <a:chOff x="4536999" y="1861000"/>
            <a:chExt cx="1217714" cy="1142960"/>
          </a:xfrm>
        </p:grpSpPr>
        <p:grpSp>
          <p:nvGrpSpPr>
            <p:cNvPr id="132" name="组合 49"/>
            <p:cNvGrpSpPr/>
            <p:nvPr/>
          </p:nvGrpSpPr>
          <p:grpSpPr>
            <a:xfrm>
              <a:off x="4609047" y="1861000"/>
              <a:ext cx="1051524" cy="1142960"/>
              <a:chOff x="2785836" y="1252765"/>
              <a:chExt cx="2847975" cy="3095625"/>
            </a:xfrm>
          </p:grpSpPr>
          <p:pic>
            <p:nvPicPr>
              <p:cNvPr id="134" name="Picture 4" descr="C:\Users\Administrator\Desktop\0000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5836" y="1252765"/>
                <a:ext cx="2847975" cy="3095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5" name="椭圆 134"/>
              <p:cNvSpPr/>
              <p:nvPr/>
            </p:nvSpPr>
            <p:spPr>
              <a:xfrm>
                <a:off x="3328533" y="1919287"/>
                <a:ext cx="1762580" cy="176258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3" name="70"/>
            <p:cNvSpPr/>
            <p:nvPr/>
          </p:nvSpPr>
          <p:spPr>
            <a:xfrm>
              <a:off x="4536999" y="2192661"/>
              <a:ext cx="1217714" cy="523328"/>
            </a:xfrm>
            <a:prstGeom prst="rect">
              <a:avLst/>
            </a:prstGeom>
          </p:spPr>
          <p:txBody>
            <a:bodyPr wrap="square" lIns="68571" tIns="34285" rIns="68571" bIns="34285">
              <a:spAutoFit/>
            </a:bodyPr>
            <a:lstStyle/>
            <a:p>
              <a:pPr algn="ctr"/>
              <a:r>
                <a:rPr lang="en-US" altLang="zh-CN" sz="2100" b="1" dirty="0" smtClean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  <a:cs typeface="Gisha" panose="020B0502040204020203" pitchFamily="34" charset="-79"/>
                </a:rPr>
                <a:t>2</a:t>
              </a:r>
              <a:endParaRPr lang="en-US" altLang="zh-CN" sz="2100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endParaRPr>
            </a:p>
          </p:txBody>
        </p:sp>
      </p:grpSp>
      <p:sp>
        <p:nvSpPr>
          <p:cNvPr id="146" name="椭圆 145"/>
          <p:cNvSpPr/>
          <p:nvPr/>
        </p:nvSpPr>
        <p:spPr>
          <a:xfrm>
            <a:off x="944533" y="1414857"/>
            <a:ext cx="2237013" cy="223701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9" name="组合 148"/>
          <p:cNvGrpSpPr/>
          <p:nvPr/>
        </p:nvGrpSpPr>
        <p:grpSpPr>
          <a:xfrm>
            <a:off x="1174651" y="1639751"/>
            <a:ext cx="1790106" cy="1787224"/>
            <a:chOff x="1174651" y="1639751"/>
            <a:chExt cx="1790106" cy="1787224"/>
          </a:xfrm>
        </p:grpSpPr>
        <p:sp>
          <p:nvSpPr>
            <p:cNvPr id="147" name="椭圆 146"/>
            <p:cNvSpPr/>
            <p:nvPr/>
          </p:nvSpPr>
          <p:spPr>
            <a:xfrm>
              <a:off x="1174651" y="1639751"/>
              <a:ext cx="1787224" cy="178722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48" name="TextBox 10"/>
            <p:cNvSpPr txBox="1"/>
            <p:nvPr/>
          </p:nvSpPr>
          <p:spPr>
            <a:xfrm>
              <a:off x="1217696" y="2186998"/>
              <a:ext cx="17470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spc="600" dirty="0" smtClean="0">
                  <a:solidFill>
                    <a:srgbClr val="05203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Montserrat Extra" charset="0"/>
                  <a:sym typeface="Arial" panose="020B0604020202020204" pitchFamily="34" charset="0"/>
                </a:rPr>
                <a:t>目录</a:t>
              </a:r>
              <a:endParaRPr lang="en-US" sz="4000" b="1" spc="600" dirty="0">
                <a:solidFill>
                  <a:srgbClr val="05203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Montserrat Extra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12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"/>
          <p:cNvSpPr txBox="1"/>
          <p:nvPr/>
        </p:nvSpPr>
        <p:spPr>
          <a:xfrm>
            <a:off x="2705395" y="2856314"/>
            <a:ext cx="380580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 algn="ctr"/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我们想要什么样的技术文化</a:t>
            </a:r>
            <a:endParaRPr lang="zh-CN" altLang="en-US" sz="36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38"/>
          <p:cNvGrpSpPr/>
          <p:nvPr/>
        </p:nvGrpSpPr>
        <p:grpSpPr>
          <a:xfrm>
            <a:off x="3705358" y="796352"/>
            <a:ext cx="1805877" cy="1962197"/>
            <a:chOff x="2785836" y="1252765"/>
            <a:chExt cx="2847975" cy="3095625"/>
          </a:xfrm>
        </p:grpSpPr>
        <p:pic>
          <p:nvPicPr>
            <p:cNvPr id="10" name="Picture 4" descr="C:\Users\Administrator\Desktop\00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36" y="1252765"/>
              <a:ext cx="2847975" cy="309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椭圆 10"/>
            <p:cNvSpPr/>
            <p:nvPr/>
          </p:nvSpPr>
          <p:spPr>
            <a:xfrm>
              <a:off x="3328533" y="1919287"/>
              <a:ext cx="1762580" cy="17625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70"/>
          <p:cNvSpPr/>
          <p:nvPr/>
        </p:nvSpPr>
        <p:spPr>
          <a:xfrm>
            <a:off x="3562650" y="1491630"/>
            <a:ext cx="2091292" cy="605787"/>
          </a:xfrm>
          <a:prstGeom prst="rect">
            <a:avLst/>
          </a:prstGeom>
        </p:spPr>
        <p:txBody>
          <a:bodyPr wrap="square" lIns="51421" tIns="25710" rIns="51421" bIns="2571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cs typeface="Gisha" panose="020B0502040204020203" pitchFamily="34" charset="-79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27493" y="3133249"/>
            <a:ext cx="1290806" cy="342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20067" y="3133249"/>
            <a:ext cx="1290806" cy="342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22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0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专业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技术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Rectangle 9"/>
          <p:cNvSpPr/>
          <p:nvPr/>
        </p:nvSpPr>
        <p:spPr>
          <a:xfrm>
            <a:off x="3395458" y="1563638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专业</a:t>
            </a:r>
            <a:endParaRPr lang="en-US" altLang="zh-CN" sz="6600" b="1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靠谱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16" name="矩形 15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6588223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专业工具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1448860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规范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6588223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说到做到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6588222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输出质量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1448860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自动化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1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1" grpId="0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95458" y="1563638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价值导向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7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0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安全的环境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95458" y="1563638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公正</a:t>
            </a:r>
            <a:endParaRPr lang="en-US" altLang="zh-CN" sz="6600" b="1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平等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588223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人人平等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1448860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信任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2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0" y="2433452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墨菲定律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95458" y="1563638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技术债务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481066" y="2433451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持续优化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5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0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智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95458" y="1563638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持续学习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588223" y="1374236"/>
            <a:ext cx="1800201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故障是有价值的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448860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知行合一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588223" y="2433453"/>
            <a:ext cx="1800201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广泛</a:t>
            </a: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的传播渠道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6588222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鼓励创新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1448860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分享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46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95458" y="1660898"/>
            <a:ext cx="211104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爽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41857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我们想要什么样的技术文化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01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95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"/>
          <p:cNvSpPr txBox="1"/>
          <p:nvPr/>
        </p:nvSpPr>
        <p:spPr>
          <a:xfrm>
            <a:off x="2705395" y="2856314"/>
            <a:ext cx="380580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/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技术文化如何养成</a:t>
            </a:r>
          </a:p>
        </p:txBody>
      </p:sp>
      <p:grpSp>
        <p:nvGrpSpPr>
          <p:cNvPr id="9" name="组合 38"/>
          <p:cNvGrpSpPr/>
          <p:nvPr/>
        </p:nvGrpSpPr>
        <p:grpSpPr>
          <a:xfrm>
            <a:off x="3705358" y="796352"/>
            <a:ext cx="1805877" cy="1962197"/>
            <a:chOff x="2785836" y="1252765"/>
            <a:chExt cx="2847975" cy="3095625"/>
          </a:xfrm>
        </p:grpSpPr>
        <p:pic>
          <p:nvPicPr>
            <p:cNvPr id="10" name="Picture 4" descr="C:\Users\Administrator\Desktop\00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836" y="1252765"/>
              <a:ext cx="2847975" cy="309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椭圆 10"/>
            <p:cNvSpPr/>
            <p:nvPr/>
          </p:nvSpPr>
          <p:spPr>
            <a:xfrm>
              <a:off x="3328533" y="1919287"/>
              <a:ext cx="1762580" cy="176258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70"/>
          <p:cNvSpPr/>
          <p:nvPr/>
        </p:nvSpPr>
        <p:spPr>
          <a:xfrm>
            <a:off x="3562650" y="1461907"/>
            <a:ext cx="2091292" cy="605787"/>
          </a:xfrm>
          <a:prstGeom prst="rect">
            <a:avLst/>
          </a:prstGeom>
        </p:spPr>
        <p:txBody>
          <a:bodyPr wrap="square" lIns="51421" tIns="25710" rIns="51421" bIns="2571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Gisha" panose="020B0502040204020203" pitchFamily="34" charset="-79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cs typeface="Gisha" panose="020B0502040204020203" pitchFamily="34" charset="-79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27493" y="3133249"/>
            <a:ext cx="1290806" cy="34282"/>
          </a:xfrm>
          <a:prstGeom prst="rect">
            <a:avLst/>
          </a:prstGeom>
          <a:solidFill>
            <a:schemeClr val="accent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20067" y="3133249"/>
            <a:ext cx="1290806" cy="34282"/>
          </a:xfrm>
          <a:prstGeom prst="rect">
            <a:avLst/>
          </a:prstGeom>
          <a:solidFill>
            <a:schemeClr val="accent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49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1" y="1851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明确的目标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364479" y="1660898"/>
            <a:ext cx="211104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熵</a:t>
            </a:r>
            <a:endParaRPr lang="en-US" altLang="zh-CN" sz="6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39352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技术文化如何养成</a:t>
              </a: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02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588224" y="1851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及时的反馈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588224" y="2910887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小团队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1448861" y="2910887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一定的挑战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3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362463" y="199568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合伙关系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402653" y="1530093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组织赋能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39352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技术文化如何养成</a:t>
              </a: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02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516216" y="199568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个人能力提升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1362463" y="293651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潜力挖掘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6516216" y="293651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技术</a:t>
            </a: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文化塑造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96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434470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过程可视化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920040" y="1060984"/>
            <a:ext cx="3061877" cy="306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3402653" y="1530093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敏捷开发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39352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技术文化如何养成</a:t>
              </a: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02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588223" y="1374236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站立会议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448860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en-US" altLang="zh-CN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TDD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588223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结对编程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6588222" y="3492670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en-US" altLang="zh-CN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……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1448860" y="2433453"/>
            <a:ext cx="1485569" cy="47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200" tIns="38100" rIns="76200" bIns="38100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工</a:t>
            </a:r>
            <a:r>
              <a:rPr lang="zh-CN" altLang="en-US" sz="1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作坊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2"/>
          <p:cNvGrpSpPr/>
          <p:nvPr/>
        </p:nvGrpSpPr>
        <p:grpSpPr>
          <a:xfrm>
            <a:off x="266701" y="373908"/>
            <a:ext cx="2865140" cy="553998"/>
            <a:chOff x="355600" y="498544"/>
            <a:chExt cx="3820187" cy="738664"/>
          </a:xfrm>
        </p:grpSpPr>
        <p:sp>
          <p:nvSpPr>
            <p:cNvPr id="7" name="矩形 6"/>
            <p:cNvSpPr/>
            <p:nvPr/>
          </p:nvSpPr>
          <p:spPr>
            <a:xfrm>
              <a:off x="1089509" y="644691"/>
              <a:ext cx="3086278" cy="39352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技术文化如何养成</a:t>
              </a:r>
              <a:endParaRPr lang="zh-CN" altLang="en-US" sz="12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355600" y="498544"/>
              <a:ext cx="901700" cy="738664"/>
            </a:xfrm>
            <a:prstGeom prst="rect">
              <a:avLst/>
            </a:prstGeom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3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Black" panose="02000000000000000000" pitchFamily="2" charset="0"/>
                  <a:sym typeface="微软雅黑" panose="020B0503020204020204" pitchFamily="34" charset="-122"/>
                </a:rPr>
                <a:t>02</a:t>
              </a:r>
              <a:endPara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lack" panose="02000000000000000000" pitchFamily="2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11" name="椭圆 10"/>
          <p:cNvSpPr/>
          <p:nvPr/>
        </p:nvSpPr>
        <p:spPr>
          <a:xfrm>
            <a:off x="704877" y="1559353"/>
            <a:ext cx="2592288" cy="2592288"/>
          </a:xfrm>
          <a:prstGeom prst="ellipse">
            <a:avLst/>
          </a:prstGeom>
          <a:noFill/>
          <a:ln cmpd="sng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>
            <a:stCxn id="11" idx="0"/>
            <a:endCxn id="18" idx="2"/>
          </p:cNvCxnSpPr>
          <p:nvPr/>
        </p:nvCxnSpPr>
        <p:spPr>
          <a:xfrm>
            <a:off x="2001021" y="1559353"/>
            <a:ext cx="2073322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6"/>
            <a:endCxn id="21" idx="2"/>
          </p:cNvCxnSpPr>
          <p:nvPr/>
        </p:nvCxnSpPr>
        <p:spPr>
          <a:xfrm flipV="1">
            <a:off x="3297165" y="2850551"/>
            <a:ext cx="777180" cy="494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1" idx="4"/>
            <a:endCxn id="24" idx="2"/>
          </p:cNvCxnSpPr>
          <p:nvPr/>
        </p:nvCxnSpPr>
        <p:spPr>
          <a:xfrm flipV="1">
            <a:off x="2001021" y="4151640"/>
            <a:ext cx="2073322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074343" y="1199313"/>
            <a:ext cx="720080" cy="720081"/>
            <a:chOff x="3995936" y="1495374"/>
            <a:chExt cx="720080" cy="720080"/>
          </a:xfrm>
        </p:grpSpPr>
        <p:sp>
          <p:nvSpPr>
            <p:cNvPr id="18" name="椭圆 17"/>
            <p:cNvSpPr/>
            <p:nvPr/>
          </p:nvSpPr>
          <p:spPr>
            <a:xfrm>
              <a:off x="3995936" y="1495374"/>
              <a:ext cx="720080" cy="72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TextBox 9"/>
            <p:cNvSpPr txBox="1"/>
            <p:nvPr/>
          </p:nvSpPr>
          <p:spPr>
            <a:xfrm>
              <a:off x="4061545" y="1624511"/>
              <a:ext cx="604653" cy="523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074345" y="2490511"/>
            <a:ext cx="720080" cy="720080"/>
            <a:chOff x="3995936" y="2786571"/>
            <a:chExt cx="720080" cy="720080"/>
          </a:xfrm>
        </p:grpSpPr>
        <p:sp>
          <p:nvSpPr>
            <p:cNvPr id="21" name="椭圆 20"/>
            <p:cNvSpPr/>
            <p:nvPr/>
          </p:nvSpPr>
          <p:spPr>
            <a:xfrm>
              <a:off x="3995936" y="2786571"/>
              <a:ext cx="720080" cy="72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12"/>
            <p:cNvSpPr txBox="1"/>
            <p:nvPr/>
          </p:nvSpPr>
          <p:spPr>
            <a:xfrm>
              <a:off x="4061543" y="2920654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074343" y="3791600"/>
            <a:ext cx="720080" cy="720080"/>
            <a:chOff x="3995936" y="4087662"/>
            <a:chExt cx="720080" cy="720080"/>
          </a:xfrm>
        </p:grpSpPr>
        <p:sp>
          <p:nvSpPr>
            <p:cNvPr id="24" name="椭圆 23"/>
            <p:cNvSpPr/>
            <p:nvPr/>
          </p:nvSpPr>
          <p:spPr>
            <a:xfrm>
              <a:off x="3995936" y="4087662"/>
              <a:ext cx="720080" cy="72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Box 15"/>
            <p:cNvSpPr txBox="1"/>
            <p:nvPr/>
          </p:nvSpPr>
          <p:spPr>
            <a:xfrm>
              <a:off x="4061545" y="4216800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/>
        </p:nvSpPr>
        <p:spPr bwMode="auto">
          <a:xfrm>
            <a:off x="5007182" y="1390076"/>
            <a:ext cx="2020887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技术价值流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5007181" y="2681274"/>
            <a:ext cx="2020887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反馈</a:t>
            </a:r>
          </a:p>
        </p:txBody>
      </p:sp>
      <p:sp>
        <p:nvSpPr>
          <p:cNvPr id="31" name="矩形 30"/>
          <p:cNvSpPr/>
          <p:nvPr/>
        </p:nvSpPr>
        <p:spPr bwMode="auto">
          <a:xfrm>
            <a:off x="5007181" y="4013071"/>
            <a:ext cx="2020887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持续学习与实验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Rectangle 9"/>
          <p:cNvSpPr/>
          <p:nvPr/>
        </p:nvSpPr>
        <p:spPr>
          <a:xfrm>
            <a:off x="939034" y="1740842"/>
            <a:ext cx="21110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DevOps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0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00"/>
                            </p:stCondLst>
                            <p:childTnLst>
                              <p:par>
                                <p:cTn id="5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/>
      <p:bldP spid="29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23678"/>
            <a:ext cx="9144000" cy="1368152"/>
          </a:xfrm>
          <a:prstGeom prst="rect">
            <a:avLst/>
          </a:prstGeom>
          <a:solidFill>
            <a:srgbClr val="BF11C3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403648" y="1890612"/>
            <a:ext cx="8856984" cy="1408078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5800" b="1" dirty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分享</a:t>
            </a:r>
            <a:r>
              <a:rPr lang="zh-CN" altLang="en-US" sz="5800" b="1" dirty="0" smtClean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</a:rPr>
              <a:t>完毕 谢谢聆听</a:t>
            </a:r>
            <a:endParaRPr lang="zh-CN" altLang="en-US" sz="5800" b="1" dirty="0">
              <a:solidFill>
                <a:schemeClr val="bg1"/>
              </a:solidFill>
              <a:effectLst>
                <a:outerShdw dist="508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57461" y="4648294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latin typeface="微软雅黑" pitchFamily="34" charset="-122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>
                  <a:spLocks/>
                </p:cNvSpPr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32" name="AutoShape 121"/>
                <p:cNvSpPr>
                  <a:spLocks/>
                </p:cNvSpPr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33" name="AutoShape 122"/>
                <p:cNvSpPr>
                  <a:spLocks/>
                </p:cNvSpPr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sp>
            <p:nvSpPr>
              <p:cNvPr id="28" name="AutoShape 112"/>
              <p:cNvSpPr>
                <a:spLocks/>
              </p:cNvSpPr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17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668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latin typeface="微软雅黑" pitchFamily="34" charset="-122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>
                  <a:spLocks/>
                </p:cNvSpPr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4" name="AutoShape 53"/>
                <p:cNvSpPr>
                  <a:spLocks/>
                </p:cNvSpPr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5" name="AutoShape 54"/>
                <p:cNvSpPr>
                  <a:spLocks/>
                </p:cNvSpPr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  <p:sp>
              <p:nvSpPr>
                <p:cNvPr id="26" name="AutoShape 55"/>
                <p:cNvSpPr>
                  <a:spLocks/>
                </p:cNvSpPr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17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itchFamily="34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2923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50"/>
                            </p:stCondLst>
                            <p:childTnLst>
                              <p:par>
                                <p:cTn id="16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严谨实用201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258</Words>
  <Application>Microsoft Office PowerPoint</Application>
  <PresentationFormat>全屏显示(16:9)</PresentationFormat>
  <Paragraphs>91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Gisha</vt:lpstr>
      <vt:lpstr>Montserrat Extra</vt:lpstr>
      <vt:lpstr>Roboto Black</vt:lpstr>
      <vt:lpstr>宋体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初创团队的技术文化养成</dc:title>
  <dc:creator>Windows 用户</dc:creator>
  <cp:lastModifiedBy>王海波</cp:lastModifiedBy>
  <cp:revision>51</cp:revision>
  <dcterms:created xsi:type="dcterms:W3CDTF">2014-09-01T11:16:13Z</dcterms:created>
  <dcterms:modified xsi:type="dcterms:W3CDTF">2019-01-04T06:20:19Z</dcterms:modified>
</cp:coreProperties>
</file>