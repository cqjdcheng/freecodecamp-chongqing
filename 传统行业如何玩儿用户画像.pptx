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1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2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3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4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15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16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8" r:id="rId2"/>
    <p:sldId id="260" r:id="rId3"/>
    <p:sldId id="261" r:id="rId4"/>
    <p:sldId id="263" r:id="rId5"/>
    <p:sldId id="262" r:id="rId6"/>
    <p:sldId id="276" r:id="rId7"/>
    <p:sldId id="277" r:id="rId8"/>
    <p:sldId id="265" r:id="rId9"/>
    <p:sldId id="266" r:id="rId10"/>
    <p:sldId id="268" r:id="rId11"/>
    <p:sldId id="269" r:id="rId12"/>
    <p:sldId id="270" r:id="rId13"/>
    <p:sldId id="271" r:id="rId14"/>
    <p:sldId id="272" r:id="rId15"/>
    <p:sldId id="273" r:id="rId16"/>
    <p:sldId id="275" r:id="rId17"/>
    <p:sldId id="274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5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anaYHG\Desktop\&#38125;&#33150;&#25968;&#25454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anaYHG\Desktop\&#38125;&#33150;&#25968;&#25454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F:\&#26032;&#32768;&#34892;&amp;&#26032;&#31354;&#38388;\&#26032;&#32768;&#34892;\&#20135;&#21697;\2018&#24180;&#34013;&#30382;&#20070;&#31609;&#22791;\&#34013;&#30382;&#20070;&#30456;&#20851;&#25968;&#25454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F:\&#26032;&#32768;&#34892;&amp;&#26032;&#31354;&#38388;\&#26032;&#32768;&#34892;\&#20135;&#21697;\2018&#24180;&#34013;&#30382;&#20070;&#31609;&#22791;\&#34013;&#30382;&#20070;&#30456;&#20851;&#25968;&#25454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F:\&#26032;&#32768;&#34892;&amp;&#26032;&#31354;&#38388;\&#26032;&#32768;&#34892;\&#20135;&#21697;\2018&#24180;&#34013;&#30382;&#20070;&#31609;&#22791;\&#34013;&#30382;&#20070;&#30456;&#20851;&#25968;&#25454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F:\&#26032;&#32768;&#34892;&amp;&#26032;&#31354;&#38388;\&#26032;&#32768;&#34892;\&#20135;&#21697;\2018&#24180;&#34013;&#30382;&#20070;&#31609;&#22791;\&#34013;&#30382;&#20070;&#30456;&#20851;&#25968;&#25454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F:\&#26032;&#32768;&#34892;&amp;&#26032;&#31354;&#38388;\&#26032;&#32768;&#34892;\&#20135;&#21697;\2018&#24180;&#34013;&#30382;&#20070;&#31609;&#22791;\&#34013;&#30382;&#20070;&#30456;&#20851;&#25968;&#25454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F:\&#26032;&#32768;&#34892;&amp;&#26032;&#31354;&#38388;\&#26032;&#32768;&#34892;\&#20135;&#21697;\2018&#24180;&#34013;&#30382;&#20070;&#31609;&#22791;\&#34013;&#30382;&#20070;&#30456;&#20851;&#25968;&#25454;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F:\&#26032;&#32768;&#34892;&amp;&#26032;&#31354;&#38388;\&#26032;&#32768;&#34892;\&#20135;&#21697;\2018&#24180;&#34013;&#30382;&#20070;&#31609;&#22791;\&#34013;&#30382;&#20070;&#30456;&#20851;&#25968;&#25454;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F:\&#26032;&#32768;&#34892;&amp;&#26032;&#31354;&#38388;\&#26032;&#32768;&#34892;\&#20135;&#21697;\2018&#24180;&#34013;&#30382;&#20070;&#31609;&#22791;\&#34013;&#30382;&#20070;&#30456;&#20851;&#25968;&#25454;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F:\&#26032;&#32768;&#34892;&amp;&#26032;&#31354;&#38388;\&#26032;&#32768;&#34892;\&#20135;&#21697;\2018&#24180;&#34013;&#30382;&#20070;&#31609;&#22791;\&#34013;&#30382;&#20070;&#30456;&#20851;&#25968;&#25454;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F:\&#26032;&#32768;&#34892;&amp;&#26032;&#31354;&#38388;\&#26032;&#32768;&#34892;\&#20135;&#21697;\2018&#24180;&#34013;&#30382;&#20070;&#31609;&#22791;\&#34013;&#30382;&#20070;&#30456;&#20851;&#25968;&#25454;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FFFF00"/>
              </a:solidFill>
              <a:ln>
                <a:solidFill>
                  <a:srgbClr val="FFFF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AE04-4801-8539-7B61C8A81E6B}"/>
              </c:ext>
            </c:extLst>
          </c:dPt>
          <c:cat>
            <c:strRef>
              <c:f>'区域成交数据（2018年）'!$AZ$3:$AZ$11</c:f>
              <c:strCache>
                <c:ptCount val="9"/>
                <c:pt idx="0">
                  <c:v>渝中区</c:v>
                </c:pt>
                <c:pt idx="1">
                  <c:v>江北区</c:v>
                </c:pt>
                <c:pt idx="2">
                  <c:v>九龙坡区</c:v>
                </c:pt>
                <c:pt idx="3">
                  <c:v>巴南区</c:v>
                </c:pt>
                <c:pt idx="4">
                  <c:v>南岸区</c:v>
                </c:pt>
                <c:pt idx="5">
                  <c:v>北碚区</c:v>
                </c:pt>
                <c:pt idx="6">
                  <c:v>渝北区</c:v>
                </c:pt>
                <c:pt idx="7">
                  <c:v>大渡口区</c:v>
                </c:pt>
                <c:pt idx="8">
                  <c:v>沙坪坝区</c:v>
                </c:pt>
              </c:strCache>
            </c:strRef>
          </c:cat>
          <c:val>
            <c:numRef>
              <c:f>'区域成交数据（2018年）'!$BA$3:$BA$11</c:f>
              <c:numCache>
                <c:formatCode>General</c:formatCode>
                <c:ptCount val="9"/>
                <c:pt idx="0">
                  <c:v>526</c:v>
                </c:pt>
                <c:pt idx="1">
                  <c:v>1408</c:v>
                </c:pt>
                <c:pt idx="2">
                  <c:v>4124</c:v>
                </c:pt>
                <c:pt idx="3">
                  <c:v>4783</c:v>
                </c:pt>
                <c:pt idx="4">
                  <c:v>2215</c:v>
                </c:pt>
                <c:pt idx="5">
                  <c:v>1451</c:v>
                </c:pt>
                <c:pt idx="6">
                  <c:v>3790</c:v>
                </c:pt>
                <c:pt idx="7">
                  <c:v>806</c:v>
                </c:pt>
                <c:pt idx="8">
                  <c:v>3467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04-4801-8539-7B61C8A81E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04415744"/>
        <c:axId val="704414104"/>
      </c:barChart>
      <c:catAx>
        <c:axId val="704415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704414104"/>
        <c:crosses val="autoZero"/>
        <c:auto val="1"/>
        <c:lblAlgn val="ctr"/>
        <c:lblOffset val="100"/>
        <c:noMultiLvlLbl val="0"/>
      </c:catAx>
      <c:valAx>
        <c:axId val="704414104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7044157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8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4"/>
            <c:invertIfNegative val="0"/>
            <c:bubble3D val="0"/>
            <c:spPr>
              <a:solidFill>
                <a:srgbClr val="FFFF00"/>
              </a:solidFill>
              <a:ln>
                <a:solidFill>
                  <a:srgbClr val="FFFF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0-77D4-4395-99CC-420E775277FB}"/>
              </c:ext>
            </c:extLst>
          </c:dPt>
          <c:dPt>
            <c:idx val="15"/>
            <c:invertIfNegative val="0"/>
            <c:bubble3D val="0"/>
            <c:spPr>
              <a:solidFill>
                <a:srgbClr val="FFFF00"/>
              </a:solidFill>
              <a:ln>
                <a:solidFill>
                  <a:srgbClr val="FFFF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7D4-4395-99CC-420E775277FB}"/>
              </c:ext>
            </c:extLst>
          </c:dPt>
          <c:dPt>
            <c:idx val="36"/>
            <c:invertIfNegative val="0"/>
            <c:bubble3D val="0"/>
            <c:spPr>
              <a:solidFill>
                <a:srgbClr val="FFFF00"/>
              </a:solidFill>
              <a:ln>
                <a:solidFill>
                  <a:srgbClr val="FFFF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77D4-4395-99CC-420E775277FB}"/>
              </c:ext>
            </c:extLst>
          </c:dPt>
          <c:cat>
            <c:strRef>
              <c:f>'板块成交数据（2018年）'!$AX$3:$AX$42</c:f>
              <c:strCache>
                <c:ptCount val="40"/>
                <c:pt idx="0">
                  <c:v>白市驿</c:v>
                </c:pt>
                <c:pt idx="1">
                  <c:v>北碚新城-歇马</c:v>
                </c:pt>
                <c:pt idx="2">
                  <c:v>北滨路-观音桥</c:v>
                </c:pt>
                <c:pt idx="3">
                  <c:v>蔡家</c:v>
                </c:pt>
                <c:pt idx="4">
                  <c:v>茶园</c:v>
                </c:pt>
                <c:pt idx="5">
                  <c:v>大渡口老城</c:v>
                </c:pt>
                <c:pt idx="6">
                  <c:v>大石坝</c:v>
                </c:pt>
                <c:pt idx="7">
                  <c:v>大学城</c:v>
                </c:pt>
                <c:pt idx="8">
                  <c:v>大堰</c:v>
                </c:pt>
                <c:pt idx="9">
                  <c:v>大竹林</c:v>
                </c:pt>
                <c:pt idx="10">
                  <c:v>弹子石</c:v>
                </c:pt>
                <c:pt idx="11">
                  <c:v>钓鱼嘴</c:v>
                </c:pt>
                <c:pt idx="12">
                  <c:v>二郎</c:v>
                </c:pt>
                <c:pt idx="13">
                  <c:v>华岩</c:v>
                </c:pt>
                <c:pt idx="14">
                  <c:v>江北嘴</c:v>
                </c:pt>
                <c:pt idx="15">
                  <c:v>界石</c:v>
                </c:pt>
                <c:pt idx="16">
                  <c:v>空港工业园</c:v>
                </c:pt>
                <c:pt idx="17">
                  <c:v>空港新城</c:v>
                </c:pt>
                <c:pt idx="18">
                  <c:v>礼嘉</c:v>
                </c:pt>
                <c:pt idx="19">
                  <c:v>李家沱</c:v>
                </c:pt>
                <c:pt idx="20">
                  <c:v>龙头寺</c:v>
                </c:pt>
                <c:pt idx="21">
                  <c:v>龙洲湾</c:v>
                </c:pt>
                <c:pt idx="22">
                  <c:v>南坪商圈</c:v>
                </c:pt>
                <c:pt idx="23">
                  <c:v>汽博中心</c:v>
                </c:pt>
                <c:pt idx="24">
                  <c:v>石坪桥</c:v>
                </c:pt>
                <c:pt idx="25">
                  <c:v>石桥铺</c:v>
                </c:pt>
                <c:pt idx="26">
                  <c:v>双碑-井口</c:v>
                </c:pt>
                <c:pt idx="27">
                  <c:v>台商工业园</c:v>
                </c:pt>
                <c:pt idx="28">
                  <c:v>西永</c:v>
                </c:pt>
                <c:pt idx="29">
                  <c:v>肖家湾</c:v>
                </c:pt>
                <c:pt idx="30">
                  <c:v>新南湖</c:v>
                </c:pt>
                <c:pt idx="31">
                  <c:v>新牌坊</c:v>
                </c:pt>
                <c:pt idx="32">
                  <c:v>杨家坪商圈</c:v>
                </c:pt>
                <c:pt idx="33">
                  <c:v>鱼洞</c:v>
                </c:pt>
                <c:pt idx="34">
                  <c:v>鱼嘴</c:v>
                </c:pt>
                <c:pt idx="35">
                  <c:v>渝中半岛</c:v>
                </c:pt>
                <c:pt idx="36">
                  <c:v>照母山</c:v>
                </c:pt>
                <c:pt idx="37">
                  <c:v>鹿角</c:v>
                </c:pt>
                <c:pt idx="38">
                  <c:v>悦来</c:v>
                </c:pt>
                <c:pt idx="39">
                  <c:v>中央公园</c:v>
                </c:pt>
              </c:strCache>
            </c:strRef>
          </c:cat>
          <c:val>
            <c:numRef>
              <c:f>'板块成交数据（2018年）'!$AY$3:$AY$42</c:f>
              <c:numCache>
                <c:formatCode>General</c:formatCode>
                <c:ptCount val="40"/>
                <c:pt idx="0">
                  <c:v>1097</c:v>
                </c:pt>
                <c:pt idx="1">
                  <c:v>382</c:v>
                </c:pt>
                <c:pt idx="2">
                  <c:v>270</c:v>
                </c:pt>
                <c:pt idx="3">
                  <c:v>1048</c:v>
                </c:pt>
                <c:pt idx="4">
                  <c:v>1619</c:v>
                </c:pt>
                <c:pt idx="5">
                  <c:v>224</c:v>
                </c:pt>
                <c:pt idx="6">
                  <c:v>194</c:v>
                </c:pt>
                <c:pt idx="7">
                  <c:v>800</c:v>
                </c:pt>
                <c:pt idx="8">
                  <c:v>177</c:v>
                </c:pt>
                <c:pt idx="9">
                  <c:v>776</c:v>
                </c:pt>
                <c:pt idx="10">
                  <c:v>189</c:v>
                </c:pt>
                <c:pt idx="11">
                  <c:v>420</c:v>
                </c:pt>
                <c:pt idx="12">
                  <c:v>236</c:v>
                </c:pt>
                <c:pt idx="13">
                  <c:v>655</c:v>
                </c:pt>
                <c:pt idx="14">
                  <c:v>303</c:v>
                </c:pt>
                <c:pt idx="15">
                  <c:v>1471</c:v>
                </c:pt>
                <c:pt idx="16">
                  <c:v>688</c:v>
                </c:pt>
                <c:pt idx="17">
                  <c:v>488</c:v>
                </c:pt>
                <c:pt idx="18">
                  <c:v>537</c:v>
                </c:pt>
                <c:pt idx="19">
                  <c:v>1002</c:v>
                </c:pt>
                <c:pt idx="20">
                  <c:v>333</c:v>
                </c:pt>
                <c:pt idx="21">
                  <c:v>1067</c:v>
                </c:pt>
                <c:pt idx="22">
                  <c:v>139</c:v>
                </c:pt>
                <c:pt idx="23">
                  <c:v>344</c:v>
                </c:pt>
                <c:pt idx="24">
                  <c:v>940</c:v>
                </c:pt>
                <c:pt idx="25">
                  <c:v>388</c:v>
                </c:pt>
                <c:pt idx="26">
                  <c:v>670</c:v>
                </c:pt>
                <c:pt idx="27">
                  <c:v>406</c:v>
                </c:pt>
                <c:pt idx="28">
                  <c:v>1025</c:v>
                </c:pt>
                <c:pt idx="29">
                  <c:v>101</c:v>
                </c:pt>
                <c:pt idx="30">
                  <c:v>179</c:v>
                </c:pt>
                <c:pt idx="31">
                  <c:v>303</c:v>
                </c:pt>
                <c:pt idx="32">
                  <c:v>310</c:v>
                </c:pt>
                <c:pt idx="33">
                  <c:v>457</c:v>
                </c:pt>
                <c:pt idx="34">
                  <c:v>386</c:v>
                </c:pt>
                <c:pt idx="35">
                  <c:v>376</c:v>
                </c:pt>
                <c:pt idx="36">
                  <c:v>1490</c:v>
                </c:pt>
                <c:pt idx="37">
                  <c:v>786</c:v>
                </c:pt>
                <c:pt idx="38">
                  <c:v>462</c:v>
                </c:pt>
                <c:pt idx="39">
                  <c:v>558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14-474D-BD13-1C5E747B56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92022928"/>
        <c:axId val="692030800"/>
      </c:barChart>
      <c:catAx>
        <c:axId val="692022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692030800"/>
        <c:crosses val="autoZero"/>
        <c:auto val="1"/>
        <c:lblAlgn val="ctr"/>
        <c:lblOffset val="100"/>
        <c:noMultiLvlLbl val="0"/>
      </c:catAx>
      <c:valAx>
        <c:axId val="6920308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6920229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 b="1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Sheet1!$C$220</c:f>
              <c:strCache>
                <c:ptCount val="1"/>
                <c:pt idx="0">
                  <c:v>占比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5F10-400B-9EAE-7670413494B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5F10-400B-9EAE-7670413494B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5F10-400B-9EAE-7670413494B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5F10-400B-9EAE-7670413494B0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5F10-400B-9EAE-7670413494B0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5F10-400B-9EAE-7670413494B0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5F10-400B-9EAE-7670413494B0}"/>
                </c:ext>
              </c:extLst>
            </c:dLbl>
            <c:dLbl>
              <c:idx val="1"/>
              <c:layout>
                <c:manualLayout>
                  <c:x val="0.27777777777777779"/>
                  <c:y val="1.2773649539913588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F10-400B-9EAE-7670413494B0}"/>
                </c:ext>
              </c:extLst>
            </c:dLbl>
            <c:dLbl>
              <c:idx val="2"/>
              <c:layout>
                <c:manualLayout>
                  <c:x val="0.1861111111111112"/>
                  <c:y val="0.14814814814814814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F10-400B-9EAE-7670413494B0}"/>
                </c:ext>
              </c:extLst>
            </c:dLbl>
            <c:dLbl>
              <c:idx val="3"/>
              <c:layout>
                <c:manualLayout>
                  <c:x val="9.9999999999999895E-2"/>
                  <c:y val="-4.6296296296297994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F10-400B-9EAE-7670413494B0}"/>
                </c:ext>
              </c:extLst>
            </c:dLbl>
            <c:dLbl>
              <c:idx val="4"/>
              <c:layout>
                <c:manualLayout>
                  <c:x val="-8.3333333333333343E-2"/>
                  <c:y val="0.1527777777777777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1" i="0" u="none" strike="noStrike" kern="1200" spc="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F10-400B-9EAE-7670413494B0}"/>
                </c:ext>
              </c:extLst>
            </c:dLbl>
            <c:dLbl>
              <c:idx val="5"/>
              <c:layout>
                <c:manualLayout>
                  <c:x val="-0.15277777777777779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1" i="0" u="none" strike="noStrike" kern="1200" spc="0" baseline="0">
                      <a:solidFill>
                        <a:schemeClr val="accent6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F10-400B-9EAE-7670413494B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spc="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Sheet1!$A$221:$A$226</c:f>
              <c:strCache>
                <c:ptCount val="6"/>
                <c:pt idx="0">
                  <c:v>(0~10)</c:v>
                </c:pt>
                <c:pt idx="1">
                  <c:v>[10~20)</c:v>
                </c:pt>
                <c:pt idx="2">
                  <c:v>[20~40)</c:v>
                </c:pt>
                <c:pt idx="3">
                  <c:v>[40~80)</c:v>
                </c:pt>
                <c:pt idx="4">
                  <c:v>[80~200)</c:v>
                </c:pt>
                <c:pt idx="5">
                  <c:v>200以上</c:v>
                </c:pt>
              </c:strCache>
            </c:strRef>
          </c:cat>
          <c:val>
            <c:numRef>
              <c:f>Sheet1!$C$221:$C$226</c:f>
              <c:numCache>
                <c:formatCode>0.0%</c:formatCode>
                <c:ptCount val="6"/>
                <c:pt idx="0">
                  <c:v>7.5075075075075074E-4</c:v>
                </c:pt>
                <c:pt idx="1">
                  <c:v>1.8018018018018018E-2</c:v>
                </c:pt>
                <c:pt idx="2">
                  <c:v>0.12012012012012012</c:v>
                </c:pt>
                <c:pt idx="3">
                  <c:v>0.63513513513513509</c:v>
                </c:pt>
                <c:pt idx="4">
                  <c:v>0.21171171171171171</c:v>
                </c:pt>
                <c:pt idx="5">
                  <c:v>1.4264264264264264E-2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F10-400B-9EAE-7670413494B0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CA0-4CC9-BE26-5B085CF6227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4CA0-4CC9-BE26-5B085CF6227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4CA0-4CC9-BE26-5B085CF6227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4CA0-4CC9-BE26-5B085CF62273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4CA0-4CC9-BE26-5B085CF62273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spc="0" baseline="0">
                      <a:solidFill>
                        <a:schemeClr val="accent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pPr>
                  <a:endParaRPr lang="zh-CN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4CA0-4CC9-BE26-5B085CF62273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spc="0" baseline="0">
                      <a:solidFill>
                        <a:schemeClr val="accent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pPr>
                  <a:endParaRPr lang="zh-CN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4CA0-4CC9-BE26-5B085CF62273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spc="0" baseline="0">
                      <a:solidFill>
                        <a:schemeClr val="accent3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pPr>
                  <a:endParaRPr lang="zh-CN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4CA0-4CC9-BE26-5B085CF62273}"/>
                </c:ext>
              </c:extLst>
            </c:dLbl>
            <c:dLbl>
              <c:idx val="3"/>
              <c:layout>
                <c:manualLayout>
                  <c:x val="-0.15792070692407503"/>
                  <c:y val="2.5316821582690073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spc="0" baseline="0">
                      <a:solidFill>
                        <a:schemeClr val="accent4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pPr>
                  <a:endParaRPr lang="zh-CN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CA0-4CC9-BE26-5B085CF62273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spc="0" baseline="0">
                      <a:solidFill>
                        <a:schemeClr val="accent5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pPr>
                  <a:endParaRPr lang="zh-CN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4CA0-4CC9-BE26-5B085CF6227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spc="0" baseline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Sheet1!$A$238:$A$242</c:f>
              <c:strCache>
                <c:ptCount val="5"/>
                <c:pt idx="0">
                  <c:v>50w以下</c:v>
                </c:pt>
                <c:pt idx="1">
                  <c:v>[50w~100w)</c:v>
                </c:pt>
                <c:pt idx="2">
                  <c:v>[100w~200w)</c:v>
                </c:pt>
                <c:pt idx="3">
                  <c:v>[200w~500w)</c:v>
                </c:pt>
                <c:pt idx="4">
                  <c:v>500w以上</c:v>
                </c:pt>
              </c:strCache>
            </c:strRef>
          </c:cat>
          <c:val>
            <c:numRef>
              <c:f>Sheet1!$C$238:$C$242</c:f>
              <c:numCache>
                <c:formatCode>0.0%</c:formatCode>
                <c:ptCount val="5"/>
                <c:pt idx="0">
                  <c:v>0.11711711711711711</c:v>
                </c:pt>
                <c:pt idx="1">
                  <c:v>0.31831831831831831</c:v>
                </c:pt>
                <c:pt idx="2">
                  <c:v>0.47972972972972971</c:v>
                </c:pt>
                <c:pt idx="3">
                  <c:v>8.0330330330330324E-2</c:v>
                </c:pt>
                <c:pt idx="4">
                  <c:v>4.5045045045045045E-3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CA0-4CC9-BE26-5B085CF62273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D6F6-4AE5-9E78-43169987A62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D6F6-4AE5-9E78-43169987A622}"/>
              </c:ext>
            </c:extLst>
          </c:dPt>
          <c:dLbls>
            <c:dLbl>
              <c:idx val="0"/>
              <c:spPr>
                <a:solidFill>
                  <a:schemeClr val="lt1"/>
                </a:solidFill>
                <a:ln>
                  <a:solidFill>
                    <a:schemeClr val="accent1"/>
                  </a:solidFill>
                </a:ln>
                <a:effectLst/>
              </c:spPr>
              <c:txPr>
                <a:bodyPr rot="0" spcFirstLastPara="1" vertOverflow="clip" horzOverflow="clip" vert="horz" wrap="square" lIns="36576" tIns="18288" rIns="36576" bIns="18288" anchor="ctr" anchorCtr="1">
                  <a:spAutoFit/>
                </a:bodyPr>
                <a:lstStyle/>
                <a:p>
                  <a:pPr>
                    <a:defRPr sz="2000" b="1" i="0" u="none" strike="noStrike" kern="1200" baseline="0">
                      <a:solidFill>
                        <a:schemeClr val="accent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ound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D6F6-4AE5-9E78-43169987A622}"/>
                </c:ext>
              </c:extLst>
            </c:dLbl>
            <c:dLbl>
              <c:idx val="1"/>
              <c:spPr>
                <a:solidFill>
                  <a:schemeClr val="lt1"/>
                </a:solidFill>
                <a:ln>
                  <a:solidFill>
                    <a:schemeClr val="accent2"/>
                  </a:solidFill>
                </a:ln>
                <a:effectLst/>
              </c:spPr>
              <c:txPr>
                <a:bodyPr rot="0" spcFirstLastPara="1" vertOverflow="clip" horzOverflow="clip" vert="horz" wrap="square" lIns="36576" tIns="18288" rIns="36576" bIns="18288" anchor="ctr" anchorCtr="1">
                  <a:spAutoFit/>
                </a:bodyPr>
                <a:lstStyle/>
                <a:p>
                  <a:pPr>
                    <a:defRPr sz="2000" b="1" i="0" u="none" strike="noStrike" kern="1200" baseline="0">
                      <a:solidFill>
                        <a:schemeClr val="accent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ound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D6F6-4AE5-9E78-43169987A622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rgbClr val="5B9BD5"/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Sheet1!$A$283:$A$284</c:f>
              <c:strCache>
                <c:ptCount val="2"/>
                <c:pt idx="0">
                  <c:v>男</c:v>
                </c:pt>
                <c:pt idx="1">
                  <c:v>女</c:v>
                </c:pt>
              </c:strCache>
            </c:strRef>
          </c:cat>
          <c:val>
            <c:numRef>
              <c:f>Sheet1!$C$283:$C$284</c:f>
              <c:numCache>
                <c:formatCode>0.0%</c:formatCode>
                <c:ptCount val="2"/>
                <c:pt idx="0">
                  <c:v>0.43611793611793614</c:v>
                </c:pt>
                <c:pt idx="1">
                  <c:v>0.56388206388206386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6F6-4AE5-9E78-43169987A622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929E-4B31-82E4-CE843D8B0A8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929E-4B31-82E4-CE843D8B0A8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929E-4B31-82E4-CE843D8B0A81}"/>
              </c:ext>
            </c:extLst>
          </c:dPt>
          <c:dLbls>
            <c:dLbl>
              <c:idx val="0"/>
              <c:spPr>
                <a:solidFill>
                  <a:schemeClr val="lt1"/>
                </a:solidFill>
                <a:ln>
                  <a:solidFill>
                    <a:schemeClr val="accent1"/>
                  </a:solidFill>
                </a:ln>
                <a:effectLst/>
              </c:spPr>
              <c:txPr>
                <a:bodyPr rot="0" spcFirstLastPara="1" vertOverflow="clip" horzOverflow="clip" vert="horz" wrap="square" lIns="36576" tIns="18288" rIns="36576" bIns="18288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accent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ound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929E-4B31-82E4-CE843D8B0A81}"/>
                </c:ext>
              </c:extLst>
            </c:dLbl>
            <c:dLbl>
              <c:idx val="1"/>
              <c:spPr>
                <a:solidFill>
                  <a:schemeClr val="lt1"/>
                </a:solidFill>
                <a:ln>
                  <a:solidFill>
                    <a:schemeClr val="accent2"/>
                  </a:solidFill>
                </a:ln>
                <a:effectLst/>
              </c:spPr>
              <c:txPr>
                <a:bodyPr rot="0" spcFirstLastPara="1" vertOverflow="clip" horzOverflow="clip" vert="horz" wrap="square" lIns="36576" tIns="18288" rIns="36576" bIns="18288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accent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ound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929E-4B31-82E4-CE843D8B0A81}"/>
                </c:ext>
              </c:extLst>
            </c:dLbl>
            <c:dLbl>
              <c:idx val="2"/>
              <c:spPr>
                <a:solidFill>
                  <a:schemeClr val="lt1"/>
                </a:solidFill>
                <a:ln>
                  <a:solidFill>
                    <a:schemeClr val="accent3"/>
                  </a:solidFill>
                </a:ln>
                <a:effectLst/>
              </c:spPr>
              <c:txPr>
                <a:bodyPr rot="0" spcFirstLastPara="1" vertOverflow="clip" horzOverflow="clip" vert="horz" wrap="square" lIns="36576" tIns="18288" rIns="36576" bIns="18288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accent3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ound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929E-4B31-82E4-CE843D8B0A81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rgbClr val="5B9BD5"/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Sheet1!$A$287:$A$289</c:f>
              <c:strCache>
                <c:ptCount val="3"/>
                <c:pt idx="0">
                  <c:v>重庆区县</c:v>
                </c:pt>
                <c:pt idx="1">
                  <c:v>重庆外</c:v>
                </c:pt>
                <c:pt idx="2">
                  <c:v>重庆主城区</c:v>
                </c:pt>
              </c:strCache>
            </c:strRef>
          </c:cat>
          <c:val>
            <c:numRef>
              <c:f>Sheet1!$C$287:$C$289</c:f>
              <c:numCache>
                <c:formatCode>0.0%</c:formatCode>
                <c:ptCount val="3"/>
                <c:pt idx="0">
                  <c:v>0.11916461916461916</c:v>
                </c:pt>
                <c:pt idx="1">
                  <c:v>0.78214578214578212</c:v>
                </c:pt>
                <c:pt idx="2">
                  <c:v>9.8689598689598687E-2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29E-4B31-82E4-CE843D8B0A81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FF00"/>
              </a:solidFill>
              <a:ln>
                <a:solidFill>
                  <a:srgbClr val="FFFF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8ED-4097-860C-6150B77E9807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1" i="0" u="none" strike="noStrike" kern="1200" baseline="0">
                      <a:solidFill>
                        <a:srgbClr val="FFFF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18ED-4097-860C-6150B77E980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Sheet2!$A$1:$A$9</c:f>
              <c:strCache>
                <c:ptCount val="9"/>
                <c:pt idx="0">
                  <c:v>渝北</c:v>
                </c:pt>
                <c:pt idx="1">
                  <c:v>南岸</c:v>
                </c:pt>
                <c:pt idx="2">
                  <c:v>沙坪坝</c:v>
                </c:pt>
                <c:pt idx="3">
                  <c:v>九龙坡</c:v>
                </c:pt>
                <c:pt idx="4">
                  <c:v>巴南</c:v>
                </c:pt>
                <c:pt idx="5">
                  <c:v>渝中</c:v>
                </c:pt>
                <c:pt idx="6">
                  <c:v>江北</c:v>
                </c:pt>
                <c:pt idx="7">
                  <c:v>大渡口</c:v>
                </c:pt>
                <c:pt idx="8">
                  <c:v>北碚</c:v>
                </c:pt>
              </c:strCache>
            </c:strRef>
          </c:cat>
          <c:val>
            <c:numRef>
              <c:f>Sheet2!$C$1:$C$9</c:f>
              <c:numCache>
                <c:formatCode>0.0%</c:formatCode>
                <c:ptCount val="9"/>
                <c:pt idx="0">
                  <c:v>0.56313645621181263</c:v>
                </c:pt>
                <c:pt idx="1">
                  <c:v>0.14643584521384928</c:v>
                </c:pt>
                <c:pt idx="2">
                  <c:v>7.8818737270875766E-2</c:v>
                </c:pt>
                <c:pt idx="3">
                  <c:v>7.3116089613034618E-2</c:v>
                </c:pt>
                <c:pt idx="4">
                  <c:v>5.3360488798370673E-2</c:v>
                </c:pt>
                <c:pt idx="5">
                  <c:v>4.9898167006109981E-2</c:v>
                </c:pt>
                <c:pt idx="6">
                  <c:v>2.7494908350305498E-2</c:v>
                </c:pt>
                <c:pt idx="7">
                  <c:v>5.295315682281059E-3</c:v>
                </c:pt>
                <c:pt idx="8">
                  <c:v>2.443991853360489E-3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ED-4097-860C-6150B77E98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92035720"/>
        <c:axId val="692036376"/>
      </c:barChart>
      <c:catAx>
        <c:axId val="692035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692036376"/>
        <c:crosses val="autoZero"/>
        <c:auto val="1"/>
        <c:lblAlgn val="ctr"/>
        <c:lblOffset val="100"/>
        <c:noMultiLvlLbl val="0"/>
      </c:catAx>
      <c:valAx>
        <c:axId val="692036376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692035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 b="1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FFFF00"/>
              </a:solidFill>
              <a:round/>
            </a:ln>
            <a:effectLst/>
          </c:spPr>
          <c:marker>
            <c:symbol val="none"/>
          </c:marker>
          <c:cat>
            <c:strRef>
              <c:f>Sheet1!$D$315:$D$321</c:f>
              <c:strCache>
                <c:ptCount val="7"/>
                <c:pt idx="0">
                  <c:v>星期一</c:v>
                </c:pt>
                <c:pt idx="1">
                  <c:v>星期二</c:v>
                </c:pt>
                <c:pt idx="2">
                  <c:v>星期三</c:v>
                </c:pt>
                <c:pt idx="3">
                  <c:v>星期四</c:v>
                </c:pt>
                <c:pt idx="4">
                  <c:v>星期五</c:v>
                </c:pt>
                <c:pt idx="5">
                  <c:v>星期六</c:v>
                </c:pt>
                <c:pt idx="6">
                  <c:v>星期日</c:v>
                </c:pt>
              </c:strCache>
            </c:strRef>
          </c:cat>
          <c:val>
            <c:numRef>
              <c:f>Sheet1!$E$315:$E$321</c:f>
              <c:numCache>
                <c:formatCode>General</c:formatCode>
                <c:ptCount val="7"/>
                <c:pt idx="0">
                  <c:v>854</c:v>
                </c:pt>
                <c:pt idx="1">
                  <c:v>819</c:v>
                </c:pt>
                <c:pt idx="2">
                  <c:v>899</c:v>
                </c:pt>
                <c:pt idx="3">
                  <c:v>1034</c:v>
                </c:pt>
                <c:pt idx="4">
                  <c:v>1342</c:v>
                </c:pt>
                <c:pt idx="5">
                  <c:v>1687</c:v>
                </c:pt>
                <c:pt idx="6">
                  <c:v>1236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879-4A0B-B01E-7083D46796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96032288"/>
        <c:axId val="702432480"/>
      </c:lineChart>
      <c:catAx>
        <c:axId val="6960322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702432480"/>
        <c:crosses val="autoZero"/>
        <c:auto val="1"/>
        <c:lblAlgn val="ctr"/>
        <c:lblOffset val="100"/>
        <c:noMultiLvlLbl val="0"/>
      </c:catAx>
      <c:valAx>
        <c:axId val="702432480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6960322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8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Sheet1!$G$317</c:f>
              <c:strCache>
                <c:ptCount val="1"/>
                <c:pt idx="0">
                  <c:v>报备数</c:v>
                </c:pt>
              </c:strCache>
            </c:strRef>
          </c:tx>
          <c:spPr>
            <a:ln w="28575" cap="rnd">
              <a:solidFill>
                <a:srgbClr val="FFFF00"/>
              </a:solidFill>
              <a:round/>
            </a:ln>
            <a:effectLst/>
          </c:spPr>
          <c:marker>
            <c:symbol val="none"/>
          </c:marker>
          <c:val>
            <c:numRef>
              <c:f>Sheet1!$H$317:$AD$317</c:f>
              <c:numCache>
                <c:formatCode>General</c:formatCode>
                <c:ptCount val="23"/>
                <c:pt idx="0">
                  <c:v>101</c:v>
                </c:pt>
                <c:pt idx="1">
                  <c:v>8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74</c:v>
                </c:pt>
                <c:pt idx="6">
                  <c:v>436</c:v>
                </c:pt>
                <c:pt idx="7">
                  <c:v>1699</c:v>
                </c:pt>
                <c:pt idx="8">
                  <c:v>1059</c:v>
                </c:pt>
                <c:pt idx="9">
                  <c:v>841</c:v>
                </c:pt>
                <c:pt idx="10">
                  <c:v>684</c:v>
                </c:pt>
                <c:pt idx="11">
                  <c:v>447</c:v>
                </c:pt>
                <c:pt idx="12">
                  <c:v>390</c:v>
                </c:pt>
                <c:pt idx="13">
                  <c:v>537</c:v>
                </c:pt>
                <c:pt idx="14">
                  <c:v>412</c:v>
                </c:pt>
                <c:pt idx="15">
                  <c:v>386</c:v>
                </c:pt>
                <c:pt idx="16">
                  <c:v>277</c:v>
                </c:pt>
                <c:pt idx="17">
                  <c:v>158</c:v>
                </c:pt>
                <c:pt idx="18">
                  <c:v>171</c:v>
                </c:pt>
                <c:pt idx="19">
                  <c:v>59</c:v>
                </c:pt>
                <c:pt idx="20">
                  <c:v>64</c:v>
                </c:pt>
                <c:pt idx="21">
                  <c:v>35</c:v>
                </c:pt>
                <c:pt idx="22">
                  <c:v>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258-4836-874F-44622DC0AB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95995432"/>
        <c:axId val="695995760"/>
      </c:lineChart>
      <c:catAx>
        <c:axId val="69599543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695995760"/>
        <c:crosses val="autoZero"/>
        <c:auto val="1"/>
        <c:lblAlgn val="ctr"/>
        <c:lblOffset val="100"/>
        <c:noMultiLvlLbl val="0"/>
      </c:catAx>
      <c:valAx>
        <c:axId val="695995760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6959954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0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DEAA-422D-9D93-317F0DBEEDD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DEAA-422D-9D93-317F0DBEEDD4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800" b="1" i="0" u="none" strike="noStrike" kern="1200" spc="0" baseline="0">
                      <a:solidFill>
                        <a:schemeClr val="accent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DEAA-422D-9D93-317F0DBEEDD4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800" b="1" i="0" u="none" strike="noStrike" kern="1200" spc="0" baseline="0">
                      <a:solidFill>
                        <a:schemeClr val="accent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DEAA-422D-9D93-317F0DBEEDD4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Sheet1!$A$409:$A$410</c:f>
              <c:strCache>
                <c:ptCount val="2"/>
                <c:pt idx="0">
                  <c:v>男</c:v>
                </c:pt>
                <c:pt idx="1">
                  <c:v>女</c:v>
                </c:pt>
              </c:strCache>
            </c:strRef>
          </c:cat>
          <c:val>
            <c:numRef>
              <c:f>Sheet1!$C$409:$C$410</c:f>
              <c:numCache>
                <c:formatCode>0.0%</c:formatCode>
                <c:ptCount val="2"/>
                <c:pt idx="0">
                  <c:v>0.73451327433628322</c:v>
                </c:pt>
                <c:pt idx="1">
                  <c:v>0.26548672566371684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EAA-422D-9D93-317F0DBEEDD4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800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FFFF00"/>
              </a:solidFill>
              <a:ln>
                <a:solidFill>
                  <a:srgbClr val="FFFF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3B9-40C1-BCAD-B93B32EB73F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Sheet1!$F$406:$F$411</c:f>
              <c:strCache>
                <c:ptCount val="6"/>
                <c:pt idx="0">
                  <c:v>80前</c:v>
                </c:pt>
                <c:pt idx="1">
                  <c:v>80后</c:v>
                </c:pt>
                <c:pt idx="2">
                  <c:v>85后</c:v>
                </c:pt>
                <c:pt idx="3">
                  <c:v>90后</c:v>
                </c:pt>
                <c:pt idx="4">
                  <c:v>95后</c:v>
                </c:pt>
                <c:pt idx="5">
                  <c:v>00后</c:v>
                </c:pt>
              </c:strCache>
            </c:strRef>
          </c:cat>
          <c:val>
            <c:numRef>
              <c:f>Sheet1!$H$406:$H$411</c:f>
              <c:numCache>
                <c:formatCode>0.0%</c:formatCode>
                <c:ptCount val="6"/>
                <c:pt idx="0">
                  <c:v>3.3628318584070796E-2</c:v>
                </c:pt>
                <c:pt idx="1">
                  <c:v>6.637168141592921E-2</c:v>
                </c:pt>
                <c:pt idx="2">
                  <c:v>0.18938053097345134</c:v>
                </c:pt>
                <c:pt idx="3">
                  <c:v>0.38584070796460179</c:v>
                </c:pt>
                <c:pt idx="4">
                  <c:v>0.31238938053097343</c:v>
                </c:pt>
                <c:pt idx="5">
                  <c:v>1.2389380530973451E-2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B9-40C1-BCAD-B93B32EB73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829952864"/>
        <c:axId val="829953848"/>
      </c:barChart>
      <c:catAx>
        <c:axId val="8299528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829953848"/>
        <c:crosses val="autoZero"/>
        <c:auto val="1"/>
        <c:lblAlgn val="ctr"/>
        <c:lblOffset val="100"/>
        <c:noMultiLvlLbl val="0"/>
      </c:catAx>
      <c:valAx>
        <c:axId val="829953848"/>
        <c:scaling>
          <c:orientation val="minMax"/>
        </c:scaling>
        <c:delete val="1"/>
        <c:axPos val="b"/>
        <c:numFmt formatCode="0.0%" sourceLinked="1"/>
        <c:majorTickMark val="none"/>
        <c:minorTickMark val="none"/>
        <c:tickLblPos val="nextTo"/>
        <c:crossAx val="8299528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8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FFFF00"/>
              </a:solidFill>
              <a:round/>
            </a:ln>
            <a:effectLst/>
          </c:spPr>
          <c:marker>
            <c:symbol val="none"/>
          </c:marker>
          <c:cat>
            <c:numRef>
              <c:f>Sheet1!$B$422:$Y$422</c:f>
              <c:numCache>
                <c:formatCode>General</c:formatCode>
                <c:ptCount val="2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</c:numCache>
            </c:numRef>
          </c:cat>
          <c:val>
            <c:numRef>
              <c:f>Sheet1!$B$423:$Y$423</c:f>
              <c:numCache>
                <c:formatCode>General</c:formatCode>
                <c:ptCount val="24"/>
                <c:pt idx="0">
                  <c:v>16453078</c:v>
                </c:pt>
                <c:pt idx="1">
                  <c:v>40854273</c:v>
                </c:pt>
                <c:pt idx="2">
                  <c:v>41719210.740000002</c:v>
                </c:pt>
                <c:pt idx="3">
                  <c:v>50054315</c:v>
                </c:pt>
                <c:pt idx="4">
                  <c:v>78535275.319999993</c:v>
                </c:pt>
                <c:pt idx="5">
                  <c:v>62194204.170000002</c:v>
                </c:pt>
                <c:pt idx="6">
                  <c:v>86617020.659999996</c:v>
                </c:pt>
                <c:pt idx="7">
                  <c:v>106556170.91</c:v>
                </c:pt>
                <c:pt idx="8">
                  <c:v>171269650.31999999</c:v>
                </c:pt>
                <c:pt idx="9">
                  <c:v>28646702</c:v>
                </c:pt>
                <c:pt idx="10">
                  <c:v>44995180.460000001</c:v>
                </c:pt>
                <c:pt idx="11">
                  <c:v>17122401</c:v>
                </c:pt>
                <c:pt idx="12">
                  <c:v>38081474.079999998</c:v>
                </c:pt>
                <c:pt idx="13">
                  <c:v>39828792</c:v>
                </c:pt>
                <c:pt idx="14">
                  <c:v>41665344.75</c:v>
                </c:pt>
                <c:pt idx="15">
                  <c:v>30100136</c:v>
                </c:pt>
                <c:pt idx="16">
                  <c:v>38314077</c:v>
                </c:pt>
                <c:pt idx="17">
                  <c:v>32994906.109999999</c:v>
                </c:pt>
                <c:pt idx="18">
                  <c:v>42267093.399999999</c:v>
                </c:pt>
                <c:pt idx="19">
                  <c:v>16299107</c:v>
                </c:pt>
                <c:pt idx="20">
                  <c:v>11387951</c:v>
                </c:pt>
                <c:pt idx="21">
                  <c:v>48343590</c:v>
                </c:pt>
                <c:pt idx="22">
                  <c:v>6247235</c:v>
                </c:pt>
                <c:pt idx="23">
                  <c:v>45940855.910000004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168-4020-B58D-2DA26E0065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92819312"/>
        <c:axId val="692821936"/>
      </c:lineChart>
      <c:catAx>
        <c:axId val="6928193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692821936"/>
        <c:crosses val="autoZero"/>
        <c:auto val="1"/>
        <c:lblAlgn val="ctr"/>
        <c:lblOffset val="100"/>
        <c:noMultiLvlLbl val="0"/>
      </c:catAx>
      <c:valAx>
        <c:axId val="692821936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6928193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4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1ABD4F-D307-4D65-9755-B73C17BD84D1}" type="datetimeFigureOut">
              <a:rPr lang="zh-CN" altLang="en-US" smtClean="0"/>
              <a:t>2019/1/4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A98B2B-684F-48E4-B338-887A652356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826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835767-3638-4FC4-98B0-ACD67BAB3BF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9486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835767-3638-4FC4-98B0-ACD67BAB3BF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81862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835767-3638-4FC4-98B0-ACD67BAB3BF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4089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835767-3638-4FC4-98B0-ACD67BAB3BF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3876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835767-3638-4FC4-98B0-ACD67BAB3BF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23718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835767-3638-4FC4-98B0-ACD67BAB3BF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5542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835767-3638-4FC4-98B0-ACD67BAB3BF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25796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835767-3638-4FC4-98B0-ACD67BAB3BF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5471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835767-3638-4FC4-98B0-ACD67BAB3BF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1913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835767-3638-4FC4-98B0-ACD67BAB3BF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5171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835767-3638-4FC4-98B0-ACD67BAB3BF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21003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835767-3638-4FC4-98B0-ACD67BAB3BF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41658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835767-3638-4FC4-98B0-ACD67BAB3BF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63207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835767-3638-4FC4-98B0-ACD67BAB3BF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73568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835767-3638-4FC4-98B0-ACD67BAB3BF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506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835767-3638-4FC4-98B0-ACD67BAB3BF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73382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835767-3638-4FC4-98B0-ACD67BAB3BF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6528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57763-C747-4F31-9272-D88AF4BD2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A50A0A7-7D00-4AD8-9DD5-DBB9C560E4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2FCBC3-7AF1-4CF8-8536-ECA4A5FB0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2DED2-E285-40DA-8893-81ECCCB0D2D4}" type="datetimeFigureOut">
              <a:rPr lang="zh-CN" altLang="en-US" smtClean="0"/>
              <a:t>2019/1/4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503D7B-83D2-4EC5-806D-9A7BEF974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FA6FC4-5519-4B27-AB6B-5CD7D46DA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CE663-472C-4472-BA64-4A92B57070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3393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3EECB0-090C-4265-ADFA-CB7D24644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F9534B-EA9C-46DD-A84E-D91E4E5CA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0BBC9F-3933-43DA-8A04-121FC4699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2DED2-E285-40DA-8893-81ECCCB0D2D4}" type="datetimeFigureOut">
              <a:rPr lang="zh-CN" altLang="en-US" smtClean="0"/>
              <a:t>2019/1/4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AA3C8A-9CFC-45BA-9CAB-163903625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87101C-E910-4481-8CAD-465E302C6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CE663-472C-4472-BA64-4A92B57070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3038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B43FEA-1FA9-4A5C-A995-39D0B2AD8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3446BB-FB8B-4274-90F0-A11DB158A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CFF69D-669B-4696-B058-DE377FD02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2DED2-E285-40DA-8893-81ECCCB0D2D4}" type="datetimeFigureOut">
              <a:rPr lang="zh-CN" altLang="en-US" smtClean="0"/>
              <a:t>2019/1/4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10275C-EE3F-4200-94FC-359C7E98C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DDC7DE-6994-41B8-B534-47A863A2C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CE663-472C-4472-BA64-4A92B57070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7197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861D8E-CABF-4318-8755-8B06A0814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D0EACA-3D9A-4CC4-93E7-17163BE152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0F7D21-2C6C-4773-9560-D7CA60AEF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9D3257-4EFE-4CDB-AD0A-61A00DD97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2DED2-E285-40DA-8893-81ECCCB0D2D4}" type="datetimeFigureOut">
              <a:rPr lang="zh-CN" altLang="en-US" smtClean="0"/>
              <a:t>2019/1/4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59BE982-652F-4A33-BD56-485AC71AF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EF5A931-1F50-4FAD-9749-E037F9FFC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CE663-472C-4472-BA64-4A92B57070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3992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2EFC90-AB5A-4DE0-8412-75B1C2631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6B752F0-5DD6-4694-A7DC-3144C7110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F2A312D-6D0F-4E01-BD2A-1F34071A7C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3F1975B-30D3-4869-A080-659495C109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7470102-F687-40EA-B824-2310F62508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A0807EF-2646-4D1F-B982-A8DF2C66A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2DED2-E285-40DA-8893-81ECCCB0D2D4}" type="datetimeFigureOut">
              <a:rPr lang="zh-CN" altLang="en-US" smtClean="0"/>
              <a:t>2019/1/4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82B98AA-3B08-4A31-8F4E-F97C4C267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371FC36-A21D-4252-83ED-6D0C370D2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CE663-472C-4472-BA64-4A92B57070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0277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4142F4-A344-4403-B16B-887E5F62A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E028DE2-27B7-45FE-8551-4A5079659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2DED2-E285-40DA-8893-81ECCCB0D2D4}" type="datetimeFigureOut">
              <a:rPr lang="zh-CN" altLang="en-US" smtClean="0"/>
              <a:t>2019/1/4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76EC061-A926-4DF5-B19D-602A41C1D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BB10ACF-62BD-4DAE-A877-E3984D769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CE663-472C-4472-BA64-4A92B57070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9778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2A78580-FCEA-400F-8DC9-18FEF370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2DED2-E285-40DA-8893-81ECCCB0D2D4}" type="datetimeFigureOut">
              <a:rPr lang="zh-CN" altLang="en-US" smtClean="0"/>
              <a:t>2019/1/4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DDDF97-DFA9-4D02-A503-70F0F7BEB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E418BB-73DC-4138-9B05-6DE2B92A4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CE663-472C-4472-BA64-4A92B57070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966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7DF1E5-3895-4EB3-AC46-777843BB8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29F6DE-23F3-4664-9AD2-99A32DA50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02D885-698D-4753-9588-D4A516FD11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4A7149-4E1D-4DAD-98D3-AC0011C4A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2DED2-E285-40DA-8893-81ECCCB0D2D4}" type="datetimeFigureOut">
              <a:rPr lang="zh-CN" altLang="en-US" smtClean="0"/>
              <a:t>2019/1/4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211D-1B7D-45A0-8C8B-CCBC0DE59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3B7B72-B7E8-493B-A2D3-B6A8795F5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CE663-472C-4472-BA64-4A92B57070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502C95-76D9-4C94-B7F5-85D16134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70A02BD-CD0E-4239-8767-45D3F26DDD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CC0D993-CA82-4B09-B6D5-D5076440B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EB91B6-310F-43A4-915A-CFCF9C5E9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2DED2-E285-40DA-8893-81ECCCB0D2D4}" type="datetimeFigureOut">
              <a:rPr lang="zh-CN" altLang="en-US" smtClean="0"/>
              <a:t>2019/1/4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88BE2C-FCC3-4794-B0AB-DCDBDD920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ABDDFC-2CBB-4F6D-A147-8AF20D426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CE663-472C-4472-BA64-4A92B57070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2344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23263F-4540-4539-BEE7-70B4F2E74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7799CE-F14B-4E88-9D4F-AB976A14DC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7B5FA1-5179-44B1-8C58-480523F8C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2DED2-E285-40DA-8893-81ECCCB0D2D4}" type="datetimeFigureOut">
              <a:rPr lang="zh-CN" altLang="en-US" smtClean="0"/>
              <a:t>2019/1/4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5C7DA6-96D1-45D0-9028-C15A16456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25BE13-3A47-4D45-A1D9-3737BFD32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CE663-472C-4472-BA64-4A92B57070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4022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DA20424-6C8F-4BE2-8A4D-9AB70AED7B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91D2656-7867-4AA3-8DCF-3CC2FCAE41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C33A23-1705-4CE5-9408-9FEB089EC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2DED2-E285-40DA-8893-81ECCCB0D2D4}" type="datetimeFigureOut">
              <a:rPr lang="zh-CN" altLang="en-US" smtClean="0"/>
              <a:t>2019/1/4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186DF0-17DF-4257-B4E6-50434BAD0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7E3D54-2678-4397-B735-8AE8B8983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CE663-472C-4472-BA64-4A92B57070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754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444E72D-A2F1-4AE1-8AB9-0F50194E4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A0D98-900B-4F8E-B5CA-53DCB522FB74}" type="datetimeFigureOut">
              <a:rPr lang="zh-CN" altLang="en-US" smtClean="0"/>
              <a:t>2019/1/4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D9D6341-D9AA-4A35-B3F1-CE8DE4263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CDAB4FA-8A08-4CD1-8892-79176FE3D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1116-9285-4D7E-89FD-E6F69B10A59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9CAEAF2-515B-441E-ABB8-6A83FCBE24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496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13BE821-9FB8-41DE-91F9-68ABF82A3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A0D98-900B-4F8E-B5CA-53DCB522FB74}" type="datetimeFigureOut">
              <a:rPr lang="zh-CN" altLang="en-US" smtClean="0"/>
              <a:t>2019/1/4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657D1A1-EB84-44BF-9AF9-30EDE8A03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84B9C8-03A8-4949-9B0C-FC138D33A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1116-9285-4D7E-89FD-E6F69B10A59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ECA4F17-1FF0-476F-A365-82762498D3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63" t="16013" r="14572" b="25560"/>
          <a:stretch/>
        </p:blipFill>
        <p:spPr>
          <a:xfrm>
            <a:off x="0" y="0"/>
            <a:ext cx="12147887" cy="6858000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60491BDC-7E17-44C3-86FD-A09971ADCD32}"/>
              </a:ext>
            </a:extLst>
          </p:cNvPr>
          <p:cNvGrpSpPr/>
          <p:nvPr userDrawn="1"/>
        </p:nvGrpSpPr>
        <p:grpSpPr>
          <a:xfrm>
            <a:off x="354159" y="361269"/>
            <a:ext cx="385539" cy="384043"/>
            <a:chOff x="395536" y="270952"/>
            <a:chExt cx="289154" cy="288032"/>
          </a:xfrm>
          <a:solidFill>
            <a:schemeClr val="bg1">
              <a:lumMod val="95000"/>
            </a:schemeClr>
          </a:solidFill>
        </p:grpSpPr>
        <p:sp>
          <p:nvSpPr>
            <p:cNvPr id="11" name="同心圆 27">
              <a:extLst>
                <a:ext uri="{FF2B5EF4-FFF2-40B4-BE49-F238E27FC236}">
                  <a16:creationId xmlns:a16="http://schemas.microsoft.com/office/drawing/2014/main" id="{D77B8B02-DFA5-4499-B488-8E23E2E40EAA}"/>
                </a:ext>
              </a:extLst>
            </p:cNvPr>
            <p:cNvSpPr/>
            <p:nvPr/>
          </p:nvSpPr>
          <p:spPr>
            <a:xfrm>
              <a:off x="395536" y="270952"/>
              <a:ext cx="289154" cy="288032"/>
            </a:xfrm>
            <a:prstGeom prst="donut">
              <a:avLst>
                <a:gd name="adj" fmla="val 817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Oval 12">
              <a:extLst>
                <a:ext uri="{FF2B5EF4-FFF2-40B4-BE49-F238E27FC236}">
                  <a16:creationId xmlns:a16="http://schemas.microsoft.com/office/drawing/2014/main" id="{8ED9B3F9-5992-4A18-B593-A3190FD0CF3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8638" y="363468"/>
              <a:ext cx="103026" cy="102999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91421" tIns="45711" rIns="91421" bIns="45711" anchor="ctr"/>
            <a:lstStyle/>
            <a:p>
              <a:pPr algn="ctr" defTabSz="1219170">
                <a:defRPr/>
              </a:pPr>
              <a:endParaRPr lang="zh-CN" altLang="zh-CN" sz="3200" kern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7" name="标题 1">
            <a:extLst>
              <a:ext uri="{FF2B5EF4-FFF2-40B4-BE49-F238E27FC236}">
                <a16:creationId xmlns:a16="http://schemas.microsoft.com/office/drawing/2014/main" id="{FF91E15A-9B9E-4973-A16A-1E24A1F06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501" y="-109492"/>
            <a:ext cx="10515600" cy="1325563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29183C11-83D5-47A3-A6F1-9C237BD444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26" t="45449" r="14572" b="35876"/>
          <a:stretch/>
        </p:blipFill>
        <p:spPr>
          <a:xfrm>
            <a:off x="2373619" y="2471887"/>
            <a:ext cx="6006293" cy="3337060"/>
          </a:xfrm>
          <a:prstGeom prst="rect">
            <a:avLst/>
          </a:prstGeom>
          <a:effectLst>
            <a:softEdge rad="635000"/>
          </a:effectLst>
        </p:spPr>
      </p:pic>
    </p:spTree>
    <p:extLst>
      <p:ext uri="{BB962C8B-B14F-4D97-AF65-F5344CB8AC3E}">
        <p14:creationId xmlns:p14="http://schemas.microsoft.com/office/powerpoint/2010/main" val="3816366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E8094A6-BA0D-4186-A27E-C5D9D9772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59F7A4-740C-417B-8E7A-0F97CD71E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654C54-E5B2-4370-8062-06B2A53354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72DED2-E285-40DA-8893-81ECCCB0D2D4}" type="datetimeFigureOut">
              <a:rPr lang="zh-CN" altLang="en-US" smtClean="0"/>
              <a:t>2019/1/4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65596B-05C4-4366-A3C8-657781A0D0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302D93-49E2-4BDD-BFE8-4675D32E91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5CE663-472C-4472-BA64-4A92B57070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7291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F3E6528-8166-4047-8569-85F65537514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8BFF9C8A-94D2-4C58-ADA1-5AA3940591A7}"/>
              </a:ext>
            </a:extLst>
          </p:cNvPr>
          <p:cNvSpPr txBox="1">
            <a:spLocks/>
          </p:cNvSpPr>
          <p:nvPr/>
        </p:nvSpPr>
        <p:spPr>
          <a:xfrm>
            <a:off x="4562802" y="1986454"/>
            <a:ext cx="3066395" cy="8063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2800" b="1" kern="2200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商业地产</a:t>
            </a:r>
            <a:r>
              <a:rPr lang="en-US" altLang="zh-CN" sz="2800" b="1" kern="2200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+</a:t>
            </a:r>
            <a:r>
              <a:rPr lang="zh-CN" altLang="en-US" sz="2800" b="1" kern="2200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互联网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7822E877-19BB-4001-AFAF-6835A40CD4E1}"/>
              </a:ext>
            </a:extLst>
          </p:cNvPr>
          <p:cNvSpPr txBox="1">
            <a:spLocks/>
          </p:cNvSpPr>
          <p:nvPr/>
        </p:nvSpPr>
        <p:spPr>
          <a:xfrm>
            <a:off x="1481959" y="2622659"/>
            <a:ext cx="9015248" cy="1003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dist">
              <a:lnSpc>
                <a:spcPct val="130000"/>
              </a:lnSpc>
            </a:pPr>
            <a:r>
              <a:rPr lang="zh-CN" altLang="en-US" sz="4000" kern="2200" dirty="0">
                <a:solidFill>
                  <a:schemeClr val="bg1">
                    <a:lumMod val="9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传统行业如何玩儿用户画像</a:t>
            </a: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A01862AC-F070-4DC3-9A29-5D5E31A7C324}"/>
              </a:ext>
            </a:extLst>
          </p:cNvPr>
          <p:cNvSpPr txBox="1">
            <a:spLocks/>
          </p:cNvSpPr>
          <p:nvPr/>
        </p:nvSpPr>
        <p:spPr>
          <a:xfrm>
            <a:off x="5570809" y="5244660"/>
            <a:ext cx="1050380" cy="8063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1600" b="1" kern="2200" dirty="0">
                <a:solidFill>
                  <a:schemeClr val="bg1">
                    <a:lumMod val="9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尹化戈</a:t>
            </a:r>
          </a:p>
        </p:txBody>
      </p:sp>
    </p:spTree>
    <p:extLst>
      <p:ext uri="{BB962C8B-B14F-4D97-AF65-F5344CB8AC3E}">
        <p14:creationId xmlns:p14="http://schemas.microsoft.com/office/powerpoint/2010/main" val="675352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0B89D809-367C-4BE8-B6C9-EC93FB739F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CF23C4C2-49F7-40F5-9A56-37CA2265EE43}"/>
              </a:ext>
            </a:extLst>
          </p:cNvPr>
          <p:cNvSpPr txBox="1">
            <a:spLocks/>
          </p:cNvSpPr>
          <p:nvPr/>
        </p:nvSpPr>
        <p:spPr>
          <a:xfrm>
            <a:off x="884181" y="94592"/>
            <a:ext cx="5006868" cy="8063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2800" b="1" kern="22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房地产行业有哪些痛点？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E79D716-B7C6-4EE8-A254-9206D80E7051}"/>
              </a:ext>
            </a:extLst>
          </p:cNvPr>
          <p:cNvSpPr txBox="1"/>
          <p:nvPr/>
        </p:nvSpPr>
        <p:spPr>
          <a:xfrm>
            <a:off x="4219904" y="4496019"/>
            <a:ext cx="1671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信息不透明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7877820-6F8E-4E89-8A99-FCFED929C2CC}"/>
              </a:ext>
            </a:extLst>
          </p:cNvPr>
          <p:cNvSpPr txBox="1"/>
          <p:nvPr/>
        </p:nvSpPr>
        <p:spPr>
          <a:xfrm>
            <a:off x="2396358" y="5506581"/>
            <a:ext cx="26591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非标作业效率低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1A6D5A1-F671-410F-91C0-B20C6C0F62E3}"/>
              </a:ext>
            </a:extLst>
          </p:cNvPr>
          <p:cNvSpPr txBox="1"/>
          <p:nvPr/>
        </p:nvSpPr>
        <p:spPr>
          <a:xfrm>
            <a:off x="7635766" y="1904330"/>
            <a:ext cx="26591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获客难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70B2400-11F8-4F12-9F6F-27FBFFE2D38B}"/>
              </a:ext>
            </a:extLst>
          </p:cNvPr>
          <p:cNvSpPr txBox="1"/>
          <p:nvPr/>
        </p:nvSpPr>
        <p:spPr>
          <a:xfrm>
            <a:off x="1671145" y="4856358"/>
            <a:ext cx="2659118" cy="396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开发商库存高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1F1D8D2-501F-4AC5-A4CB-3A94E5579F14}"/>
              </a:ext>
            </a:extLst>
          </p:cNvPr>
          <p:cNvSpPr txBox="1"/>
          <p:nvPr/>
        </p:nvSpPr>
        <p:spPr>
          <a:xfrm>
            <a:off x="6096000" y="3906972"/>
            <a:ext cx="1671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库存慢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5202DCF-A3C8-4ADC-974D-0BE1C45AD94B}"/>
              </a:ext>
            </a:extLst>
          </p:cNvPr>
          <p:cNvSpPr txBox="1"/>
          <p:nvPr/>
        </p:nvSpPr>
        <p:spPr>
          <a:xfrm>
            <a:off x="7940568" y="4150279"/>
            <a:ext cx="2659118" cy="497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服务水平参差不齐</a:t>
            </a:r>
            <a:endParaRPr lang="en-US" altLang="zh-CN" sz="2400" dirty="0">
              <a:solidFill>
                <a:srgbClr val="FFFF00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060C608-2F0C-488C-8D8D-D30E006FF971}"/>
              </a:ext>
            </a:extLst>
          </p:cNvPr>
          <p:cNvSpPr txBox="1"/>
          <p:nvPr/>
        </p:nvSpPr>
        <p:spPr>
          <a:xfrm>
            <a:off x="1844564" y="1927653"/>
            <a:ext cx="2659118" cy="497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商户选址定位难</a:t>
            </a:r>
            <a:endParaRPr lang="en-US" altLang="zh-CN" sz="2400" dirty="0">
              <a:solidFill>
                <a:srgbClr val="FFFF00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E21EA4E-CAED-48CF-9115-5A80C4C142C0}"/>
              </a:ext>
            </a:extLst>
          </p:cNvPr>
          <p:cNvSpPr txBox="1"/>
          <p:nvPr/>
        </p:nvSpPr>
        <p:spPr>
          <a:xfrm>
            <a:off x="9017878" y="2191029"/>
            <a:ext cx="1671145" cy="396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无后市场服务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3F5E46D-BC1D-4F5A-B47A-F462883F000E}"/>
              </a:ext>
            </a:extLst>
          </p:cNvPr>
          <p:cNvSpPr txBox="1"/>
          <p:nvPr/>
        </p:nvSpPr>
        <p:spPr>
          <a:xfrm>
            <a:off x="3478923" y="2861113"/>
            <a:ext cx="2659118" cy="396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中介费收取无规范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DF2A908-410C-4BC0-874B-CF51883F5B9A}"/>
              </a:ext>
            </a:extLst>
          </p:cNvPr>
          <p:cNvSpPr txBox="1"/>
          <p:nvPr/>
        </p:nvSpPr>
        <p:spPr>
          <a:xfrm>
            <a:off x="6611009" y="5136351"/>
            <a:ext cx="2659118" cy="396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投资人信心不足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4382695-6B3F-4EA0-9B59-2D5E58935340}"/>
              </a:ext>
            </a:extLst>
          </p:cNvPr>
          <p:cNvSpPr txBox="1"/>
          <p:nvPr/>
        </p:nvSpPr>
        <p:spPr>
          <a:xfrm>
            <a:off x="1266496" y="3164875"/>
            <a:ext cx="1671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行业周期性强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AECF041-F3F2-4363-9BF5-EFB2C314ABF0}"/>
              </a:ext>
            </a:extLst>
          </p:cNvPr>
          <p:cNvSpPr txBox="1"/>
          <p:nvPr/>
        </p:nvSpPr>
        <p:spPr>
          <a:xfrm>
            <a:off x="7294180" y="3339031"/>
            <a:ext cx="1671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无标准规范</a:t>
            </a:r>
          </a:p>
        </p:txBody>
      </p:sp>
    </p:spTree>
    <p:extLst>
      <p:ext uri="{BB962C8B-B14F-4D97-AF65-F5344CB8AC3E}">
        <p14:creationId xmlns:p14="http://schemas.microsoft.com/office/powerpoint/2010/main" val="1277690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0B89D809-367C-4BE8-B6C9-EC93FB739F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CF23C4C2-49F7-40F5-9A56-37CA2265EE43}"/>
              </a:ext>
            </a:extLst>
          </p:cNvPr>
          <p:cNvSpPr txBox="1">
            <a:spLocks/>
          </p:cNvSpPr>
          <p:nvPr/>
        </p:nvSpPr>
        <p:spPr>
          <a:xfrm>
            <a:off x="884181" y="94592"/>
            <a:ext cx="3066395" cy="8063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2800" b="1" kern="22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加点数据思维？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BDA6EDB-8DF8-48D1-96C8-451D91DB3A2C}"/>
              </a:ext>
            </a:extLst>
          </p:cNvPr>
          <p:cNvSpPr txBox="1"/>
          <p:nvPr/>
        </p:nvSpPr>
        <p:spPr>
          <a:xfrm>
            <a:off x="3174121" y="2398658"/>
            <a:ext cx="7126015" cy="632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地产行业拥抱数据思维，晚吗？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28CDEB7-3F5A-4E8A-BCFA-37B5FBA1C386}"/>
              </a:ext>
            </a:extLst>
          </p:cNvPr>
          <p:cNvSpPr txBox="1"/>
          <p:nvPr/>
        </p:nvSpPr>
        <p:spPr>
          <a:xfrm>
            <a:off x="1481958" y="3896384"/>
            <a:ext cx="9984828" cy="632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房地产业中存在着运用数据分析决策的智能化路径。</a:t>
            </a:r>
          </a:p>
        </p:txBody>
      </p:sp>
    </p:spTree>
    <p:extLst>
      <p:ext uri="{BB962C8B-B14F-4D97-AF65-F5344CB8AC3E}">
        <p14:creationId xmlns:p14="http://schemas.microsoft.com/office/powerpoint/2010/main" val="3874321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0B89D809-367C-4BE8-B6C9-EC93FB739F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CF23C4C2-49F7-40F5-9A56-37CA2265EE43}"/>
              </a:ext>
            </a:extLst>
          </p:cNvPr>
          <p:cNvSpPr txBox="1">
            <a:spLocks/>
          </p:cNvSpPr>
          <p:nvPr/>
        </p:nvSpPr>
        <p:spPr>
          <a:xfrm>
            <a:off x="884181" y="94592"/>
            <a:ext cx="4307929" cy="8063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2800" b="1" kern="22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什么是</a:t>
            </a:r>
            <a:r>
              <a:rPr lang="zh-CN" altLang="en-US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数据分析决策</a:t>
            </a:r>
            <a:r>
              <a:rPr lang="zh-CN" altLang="en-US" sz="2800" b="1" kern="22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？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C9488E6-E7C0-4F18-ABDC-C59ADE401B66}"/>
              </a:ext>
            </a:extLst>
          </p:cNvPr>
          <p:cNvCxnSpPr/>
          <p:nvPr/>
        </p:nvCxnSpPr>
        <p:spPr>
          <a:xfrm>
            <a:off x="1098330" y="6484882"/>
            <a:ext cx="48768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BCAE4154-DEC6-4205-8623-2EAB94DD272C}"/>
              </a:ext>
            </a:extLst>
          </p:cNvPr>
          <p:cNvCxnSpPr>
            <a:cxnSpLocks/>
          </p:cNvCxnSpPr>
          <p:nvPr/>
        </p:nvCxnSpPr>
        <p:spPr>
          <a:xfrm>
            <a:off x="1466192" y="5770178"/>
            <a:ext cx="410954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0B1D8AC-4622-4E0A-B6C8-82ADC1CD50FF}"/>
              </a:ext>
            </a:extLst>
          </p:cNvPr>
          <p:cNvCxnSpPr>
            <a:cxnSpLocks/>
          </p:cNvCxnSpPr>
          <p:nvPr/>
        </p:nvCxnSpPr>
        <p:spPr>
          <a:xfrm>
            <a:off x="2065281" y="5034454"/>
            <a:ext cx="3005959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2786CD6D-A372-4C53-A425-C4FFB0CFB4CC}"/>
              </a:ext>
            </a:extLst>
          </p:cNvPr>
          <p:cNvCxnSpPr>
            <a:cxnSpLocks/>
          </p:cNvCxnSpPr>
          <p:nvPr/>
        </p:nvCxnSpPr>
        <p:spPr>
          <a:xfrm>
            <a:off x="2422632" y="4256689"/>
            <a:ext cx="229125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5C7070BF-6B89-417A-ADE3-A10617816574}"/>
              </a:ext>
            </a:extLst>
          </p:cNvPr>
          <p:cNvCxnSpPr>
            <a:cxnSpLocks/>
          </p:cNvCxnSpPr>
          <p:nvPr/>
        </p:nvCxnSpPr>
        <p:spPr>
          <a:xfrm>
            <a:off x="2601307" y="3478923"/>
            <a:ext cx="1870843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8BF6B352-1F63-4B92-8EF5-636993793D23}"/>
              </a:ext>
            </a:extLst>
          </p:cNvPr>
          <p:cNvCxnSpPr>
            <a:cxnSpLocks/>
          </p:cNvCxnSpPr>
          <p:nvPr/>
        </p:nvCxnSpPr>
        <p:spPr>
          <a:xfrm>
            <a:off x="2858810" y="2711668"/>
            <a:ext cx="1418899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B34A12C6-2478-4039-8D14-016DB6D7FC99}"/>
              </a:ext>
            </a:extLst>
          </p:cNvPr>
          <p:cNvSpPr txBox="1"/>
          <p:nvPr/>
        </p:nvSpPr>
        <p:spPr>
          <a:xfrm>
            <a:off x="2858810" y="5997975"/>
            <a:ext cx="16711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E8F321A-9F77-4B15-B692-2559B0F2CF75}"/>
              </a:ext>
            </a:extLst>
          </p:cNvPr>
          <p:cNvSpPr txBox="1"/>
          <p:nvPr/>
        </p:nvSpPr>
        <p:spPr>
          <a:xfrm>
            <a:off x="2406864" y="5272603"/>
            <a:ext cx="2769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数据存储及标准化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019DDE9-FD3C-4B26-840B-EE27D3ABE12A}"/>
              </a:ext>
            </a:extLst>
          </p:cNvPr>
          <p:cNvSpPr txBox="1"/>
          <p:nvPr/>
        </p:nvSpPr>
        <p:spPr>
          <a:xfrm>
            <a:off x="2422632" y="4557900"/>
            <a:ext cx="2769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数据报表及可视化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0792244-0510-4D03-BCA1-702D5AF690A1}"/>
              </a:ext>
            </a:extLst>
          </p:cNvPr>
          <p:cNvSpPr txBox="1"/>
          <p:nvPr/>
        </p:nvSpPr>
        <p:spPr>
          <a:xfrm>
            <a:off x="2614444" y="3775928"/>
            <a:ext cx="2514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产品与运营分析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8D9B60F-16F3-401B-AB84-70334750E800}"/>
              </a:ext>
            </a:extLst>
          </p:cNvPr>
          <p:cNvSpPr txBox="1"/>
          <p:nvPr/>
        </p:nvSpPr>
        <p:spPr>
          <a:xfrm>
            <a:off x="2840415" y="2977658"/>
            <a:ext cx="16317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精细化运营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78DC959-9021-4680-ACDC-3DFB727EBB67}"/>
              </a:ext>
            </a:extLst>
          </p:cNvPr>
          <p:cNvSpPr txBox="1"/>
          <p:nvPr/>
        </p:nvSpPr>
        <p:spPr>
          <a:xfrm>
            <a:off x="2979679" y="2199893"/>
            <a:ext cx="12980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数据产品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9C608002-F395-47DE-A481-564F8BD80DE8}"/>
              </a:ext>
            </a:extLst>
          </p:cNvPr>
          <p:cNvCxnSpPr>
            <a:cxnSpLocks/>
          </p:cNvCxnSpPr>
          <p:nvPr/>
        </p:nvCxnSpPr>
        <p:spPr>
          <a:xfrm>
            <a:off x="2979679" y="1975944"/>
            <a:ext cx="1137749" cy="0"/>
          </a:xfrm>
          <a:prstGeom prst="line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3652A0F5-5AE0-4630-A70D-E794C2F68E5A}"/>
              </a:ext>
            </a:extLst>
          </p:cNvPr>
          <p:cNvSpPr txBox="1"/>
          <p:nvPr/>
        </p:nvSpPr>
        <p:spPr>
          <a:xfrm>
            <a:off x="2919244" y="1474679"/>
            <a:ext cx="12980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数据战略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F767796-1400-469E-A851-5F02A7DBBFA6}"/>
              </a:ext>
            </a:extLst>
          </p:cNvPr>
          <p:cNvSpPr/>
          <p:nvPr/>
        </p:nvSpPr>
        <p:spPr>
          <a:xfrm>
            <a:off x="6306205" y="5944702"/>
            <a:ext cx="3394843" cy="540171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各基础系统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7D2BF3A-5054-4655-8ACD-5BFD85734FE2}"/>
              </a:ext>
            </a:extLst>
          </p:cNvPr>
          <p:cNvSpPr/>
          <p:nvPr/>
        </p:nvSpPr>
        <p:spPr>
          <a:xfrm>
            <a:off x="6306204" y="5202572"/>
            <a:ext cx="3394843" cy="540171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产品数据规范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270DD74-26CF-4187-9853-8A02700FE308}"/>
              </a:ext>
            </a:extLst>
          </p:cNvPr>
          <p:cNvSpPr/>
          <p:nvPr/>
        </p:nvSpPr>
        <p:spPr>
          <a:xfrm>
            <a:off x="6306203" y="4439373"/>
            <a:ext cx="3394843" cy="540171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可配置报表平台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8AE6DCE-EC48-4B3B-BB82-736D7B34D174}"/>
              </a:ext>
            </a:extLst>
          </p:cNvPr>
          <p:cNvSpPr/>
          <p:nvPr/>
        </p:nvSpPr>
        <p:spPr>
          <a:xfrm>
            <a:off x="6306202" y="3697243"/>
            <a:ext cx="3394843" cy="540171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用户画像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62E5F2D-D811-4DFD-AFEE-1CBB745EF0DD}"/>
              </a:ext>
            </a:extLst>
          </p:cNvPr>
          <p:cNvSpPr/>
          <p:nvPr/>
        </p:nvSpPr>
        <p:spPr>
          <a:xfrm>
            <a:off x="6306202" y="2907627"/>
            <a:ext cx="3394843" cy="540171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个性化推荐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6F821F4-56FF-405A-8321-D4FF688ADA4E}"/>
              </a:ext>
            </a:extLst>
          </p:cNvPr>
          <p:cNvSpPr/>
          <p:nvPr/>
        </p:nvSpPr>
        <p:spPr>
          <a:xfrm>
            <a:off x="6306202" y="2162095"/>
            <a:ext cx="3394843" cy="540171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生意参谋、百度指数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EB07F3A-42ED-4D93-8A03-CEF5D515E679}"/>
              </a:ext>
            </a:extLst>
          </p:cNvPr>
          <p:cNvSpPr/>
          <p:nvPr/>
        </p:nvSpPr>
        <p:spPr>
          <a:xfrm>
            <a:off x="6306202" y="1435773"/>
            <a:ext cx="3394843" cy="540171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企业经营战略</a:t>
            </a:r>
          </a:p>
        </p:txBody>
      </p:sp>
    </p:spTree>
    <p:extLst>
      <p:ext uri="{BB962C8B-B14F-4D97-AF65-F5344CB8AC3E}">
        <p14:creationId xmlns:p14="http://schemas.microsoft.com/office/powerpoint/2010/main" val="733530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000"/>
                            </p:stCondLst>
                            <p:childTnLst>
                              <p:par>
                                <p:cTn id="5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31" grpId="0"/>
      <p:bldP spid="32" grpId="0"/>
      <p:bldP spid="33" grpId="0"/>
      <p:bldP spid="36" grpId="0"/>
      <p:bldP spid="37" grpId="0" animBg="1"/>
      <p:bldP spid="25" grpId="0" animBg="1"/>
      <p:bldP spid="29" grpId="0" animBg="1"/>
      <p:bldP spid="30" grpId="0" animBg="1"/>
      <p:bldP spid="35" grpId="0" animBg="1"/>
      <p:bldP spid="38" grpId="0" animBg="1"/>
      <p:bldP spid="3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0B89D809-367C-4BE8-B6C9-EC93FB739F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CF23C4C2-49F7-40F5-9A56-37CA2265EE43}"/>
              </a:ext>
            </a:extLst>
          </p:cNvPr>
          <p:cNvSpPr txBox="1">
            <a:spLocks/>
          </p:cNvSpPr>
          <p:nvPr/>
        </p:nvSpPr>
        <p:spPr>
          <a:xfrm>
            <a:off x="884181" y="94592"/>
            <a:ext cx="5968564" cy="8063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2800" b="1" kern="22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了解下产品画像</a:t>
            </a:r>
            <a:r>
              <a:rPr lang="en-US" altLang="zh-CN" sz="2800" b="1" kern="22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&amp;</a:t>
            </a:r>
            <a:r>
              <a:rPr lang="zh-CN" altLang="en-US" sz="2800" b="1" kern="22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用户画像？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1D8B490-D7EE-4671-98C1-799B05A7B6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2543" y="2591876"/>
            <a:ext cx="1446486" cy="144648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19D2943-0B1E-45DF-A5B3-CE9D462BFE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5425" y="2592731"/>
            <a:ext cx="1446486" cy="144648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2C631E5-C1E8-485A-AB75-FDDB34ED7A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8307" y="2636007"/>
            <a:ext cx="1446486" cy="14464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0937A34-6EF0-485A-AE85-FC1D89DCB3A9}"/>
              </a:ext>
            </a:extLst>
          </p:cNvPr>
          <p:cNvSpPr txBox="1"/>
          <p:nvPr/>
        </p:nvSpPr>
        <p:spPr>
          <a:xfrm>
            <a:off x="1964905" y="4704535"/>
            <a:ext cx="92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盘源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A32EDA9-20E3-49D8-B6F2-E8C238556D02}"/>
              </a:ext>
            </a:extLst>
          </p:cNvPr>
          <p:cNvSpPr txBox="1"/>
          <p:nvPr/>
        </p:nvSpPr>
        <p:spPr>
          <a:xfrm>
            <a:off x="8938079" y="4747811"/>
            <a:ext cx="1357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经纪人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022D442-22D6-4174-B142-6A96D3C7DC58}"/>
              </a:ext>
            </a:extLst>
          </p:cNvPr>
          <p:cNvSpPr txBox="1"/>
          <p:nvPr/>
        </p:nvSpPr>
        <p:spPr>
          <a:xfrm>
            <a:off x="5495043" y="4704535"/>
            <a:ext cx="1357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投资人</a:t>
            </a:r>
          </a:p>
        </p:txBody>
      </p:sp>
    </p:spTree>
    <p:extLst>
      <p:ext uri="{BB962C8B-B14F-4D97-AF65-F5344CB8AC3E}">
        <p14:creationId xmlns:p14="http://schemas.microsoft.com/office/powerpoint/2010/main" val="2064504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9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0B89D809-367C-4BE8-B6C9-EC93FB739F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CF23C4C2-49F7-40F5-9A56-37CA2265EE43}"/>
              </a:ext>
            </a:extLst>
          </p:cNvPr>
          <p:cNvSpPr txBox="1">
            <a:spLocks/>
          </p:cNvSpPr>
          <p:nvPr/>
        </p:nvSpPr>
        <p:spPr>
          <a:xfrm>
            <a:off x="884181" y="94592"/>
            <a:ext cx="4949060" cy="8063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2800" b="1" kern="22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哪个行政区最受投资者欢迎？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3261562-22E0-4D5C-AFA1-399C0AEDCA45}"/>
              </a:ext>
            </a:extLst>
          </p:cNvPr>
          <p:cNvSpPr txBox="1"/>
          <p:nvPr/>
        </p:nvSpPr>
        <p:spPr>
          <a:xfrm>
            <a:off x="9890235" y="94592"/>
            <a:ext cx="22071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1" dirty="0">
                <a:solidFill>
                  <a:schemeClr val="bg1"/>
                </a:solidFill>
              </a:rPr>
              <a:t>样本数量：</a:t>
            </a:r>
            <a:r>
              <a:rPr lang="en-US" altLang="zh-CN" sz="1600" i="1" dirty="0">
                <a:solidFill>
                  <a:schemeClr val="bg1"/>
                </a:solidFill>
              </a:rPr>
              <a:t>222570</a:t>
            </a:r>
            <a:r>
              <a:rPr lang="zh-CN" altLang="en-US" sz="1600" i="1" dirty="0">
                <a:solidFill>
                  <a:schemeClr val="bg1"/>
                </a:solidFill>
              </a:rPr>
              <a:t>套</a:t>
            </a:r>
          </a:p>
        </p:txBody>
      </p:sp>
      <p:graphicFrame>
        <p:nvGraphicFramePr>
          <p:cNvPr id="14" name="图表 13">
            <a:extLst>
              <a:ext uri="{FF2B5EF4-FFF2-40B4-BE49-F238E27FC236}">
                <a16:creationId xmlns:a16="http://schemas.microsoft.com/office/drawing/2014/main" id="{BDB43603-0015-4911-A739-CCD04AB217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0295165"/>
              </p:ext>
            </p:extLst>
          </p:nvPr>
        </p:nvGraphicFramePr>
        <p:xfrm>
          <a:off x="241738" y="2057400"/>
          <a:ext cx="11645462" cy="47060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259448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14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14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14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14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"/>
                            </p:stCondLst>
                            <p:childTnLst>
                              <p:par>
                                <p:cTn id="20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14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14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14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00" fill="hold"/>
                                        <p:tgtEl>
                                          <p:spTgt spid="14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00"/>
                            </p:stCondLst>
                            <p:childTnLst>
                              <p:par>
                                <p:cTn id="27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14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14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00" fill="hold"/>
                                        <p:tgtEl>
                                          <p:spTgt spid="14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00" fill="hold"/>
                                        <p:tgtEl>
                                          <p:spTgt spid="14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900"/>
                            </p:stCondLst>
                            <p:childTnLst>
                              <p:par>
                                <p:cTn id="34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14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00" fill="hold"/>
                                        <p:tgtEl>
                                          <p:spTgt spid="14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00" fill="hold"/>
                                        <p:tgtEl>
                                          <p:spTgt spid="14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00" fill="hold"/>
                                        <p:tgtEl>
                                          <p:spTgt spid="14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00"/>
                            </p:stCondLst>
                            <p:childTnLst>
                              <p:par>
                                <p:cTn id="41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300" fill="hold"/>
                                        <p:tgtEl>
                                          <p:spTgt spid="14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00" fill="hold"/>
                                        <p:tgtEl>
                                          <p:spTgt spid="14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00" fill="hold"/>
                                        <p:tgtEl>
                                          <p:spTgt spid="14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00" fill="hold"/>
                                        <p:tgtEl>
                                          <p:spTgt spid="14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300" fill="hold"/>
                                        <p:tgtEl>
                                          <p:spTgt spid="14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00" fill="hold"/>
                                        <p:tgtEl>
                                          <p:spTgt spid="14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14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00" fill="hold"/>
                                        <p:tgtEl>
                                          <p:spTgt spid="14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800"/>
                            </p:stCondLst>
                            <p:childTnLst>
                              <p:par>
                                <p:cTn id="55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300" fill="hold"/>
                                        <p:tgtEl>
                                          <p:spTgt spid="14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00" fill="hold"/>
                                        <p:tgtEl>
                                          <p:spTgt spid="14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00" fill="hold"/>
                                        <p:tgtEl>
                                          <p:spTgt spid="14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00" fill="hold"/>
                                        <p:tgtEl>
                                          <p:spTgt spid="14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100"/>
                            </p:stCondLst>
                            <p:childTnLst>
                              <p:par>
                                <p:cTn id="62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300" fill="hold"/>
                                        <p:tgtEl>
                                          <p:spTgt spid="14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00" fill="hold"/>
                                        <p:tgtEl>
                                          <p:spTgt spid="14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300" fill="hold"/>
                                        <p:tgtEl>
                                          <p:spTgt spid="14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00" fill="hold"/>
                                        <p:tgtEl>
                                          <p:spTgt spid="14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400"/>
                            </p:stCondLst>
                            <p:childTnLst>
                              <p:par>
                                <p:cTn id="69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300" fill="hold"/>
                                        <p:tgtEl>
                                          <p:spTgt spid="14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300" fill="hold"/>
                                        <p:tgtEl>
                                          <p:spTgt spid="14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300" fill="hold"/>
                                        <p:tgtEl>
                                          <p:spTgt spid="14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300" fill="hold"/>
                                        <p:tgtEl>
                                          <p:spTgt spid="14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4" grpId="0" uiExpand="1">
        <p:bldSub>
          <a:bldChart bld="category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0B89D809-367C-4BE8-B6C9-EC93FB739F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CF23C4C2-49F7-40F5-9A56-37CA2265EE43}"/>
              </a:ext>
            </a:extLst>
          </p:cNvPr>
          <p:cNvSpPr txBox="1">
            <a:spLocks/>
          </p:cNvSpPr>
          <p:nvPr/>
        </p:nvSpPr>
        <p:spPr>
          <a:xfrm>
            <a:off x="884181" y="94592"/>
            <a:ext cx="4949060" cy="8063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2800" b="1" kern="22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哪个商圈最受投资者欢迎？</a:t>
            </a:r>
          </a:p>
        </p:txBody>
      </p:sp>
      <p:graphicFrame>
        <p:nvGraphicFramePr>
          <p:cNvPr id="11" name="图表 10">
            <a:extLst>
              <a:ext uri="{FF2B5EF4-FFF2-40B4-BE49-F238E27FC236}">
                <a16:creationId xmlns:a16="http://schemas.microsoft.com/office/drawing/2014/main" id="{3D1D145C-C466-4B86-AF88-BF27A06EE3D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7861761"/>
              </p:ext>
            </p:extLst>
          </p:nvPr>
        </p:nvGraphicFramePr>
        <p:xfrm>
          <a:off x="0" y="1198178"/>
          <a:ext cx="12097407" cy="5659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3261562-22E0-4D5C-AFA1-399C0AEDCA45}"/>
              </a:ext>
            </a:extLst>
          </p:cNvPr>
          <p:cNvSpPr txBox="1"/>
          <p:nvPr/>
        </p:nvSpPr>
        <p:spPr>
          <a:xfrm>
            <a:off x="9890235" y="94592"/>
            <a:ext cx="22071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1" dirty="0">
                <a:solidFill>
                  <a:schemeClr val="bg1"/>
                </a:solidFill>
              </a:rPr>
              <a:t>样本数量：</a:t>
            </a:r>
            <a:r>
              <a:rPr lang="en-US" altLang="zh-CN" sz="1600" i="1" dirty="0">
                <a:solidFill>
                  <a:schemeClr val="bg1"/>
                </a:solidFill>
              </a:rPr>
              <a:t>23296</a:t>
            </a:r>
            <a:r>
              <a:rPr lang="zh-CN" altLang="en-US" sz="1600" i="1" dirty="0">
                <a:solidFill>
                  <a:schemeClr val="bg1"/>
                </a:solidFill>
              </a:rPr>
              <a:t>套</a:t>
            </a:r>
          </a:p>
        </p:txBody>
      </p:sp>
    </p:spTree>
    <p:extLst>
      <p:ext uri="{BB962C8B-B14F-4D97-AF65-F5344CB8AC3E}">
        <p14:creationId xmlns:p14="http://schemas.microsoft.com/office/powerpoint/2010/main" val="3978505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1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1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1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1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11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11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11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11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"/>
                            </p:stCondLst>
                            <p:childTnLst>
                              <p:par>
                                <p:cTn id="20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11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11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11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00" fill="hold"/>
                                        <p:tgtEl>
                                          <p:spTgt spid="11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00"/>
                            </p:stCondLst>
                            <p:childTnLst>
                              <p:par>
                                <p:cTn id="27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11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11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00" fill="hold"/>
                                        <p:tgtEl>
                                          <p:spTgt spid="11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00" fill="hold"/>
                                        <p:tgtEl>
                                          <p:spTgt spid="11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900"/>
                            </p:stCondLst>
                            <p:childTnLst>
                              <p:par>
                                <p:cTn id="34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11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00" fill="hold"/>
                                        <p:tgtEl>
                                          <p:spTgt spid="11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00" fill="hold"/>
                                        <p:tgtEl>
                                          <p:spTgt spid="11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00" fill="hold"/>
                                        <p:tgtEl>
                                          <p:spTgt spid="11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00"/>
                            </p:stCondLst>
                            <p:childTnLst>
                              <p:par>
                                <p:cTn id="41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300" fill="hold"/>
                                        <p:tgtEl>
                                          <p:spTgt spid="11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00" fill="hold"/>
                                        <p:tgtEl>
                                          <p:spTgt spid="11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00" fill="hold"/>
                                        <p:tgtEl>
                                          <p:spTgt spid="11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00" fill="hold"/>
                                        <p:tgtEl>
                                          <p:spTgt spid="11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300" fill="hold"/>
                                        <p:tgtEl>
                                          <p:spTgt spid="11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00" fill="hold"/>
                                        <p:tgtEl>
                                          <p:spTgt spid="11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11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00" fill="hold"/>
                                        <p:tgtEl>
                                          <p:spTgt spid="11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800"/>
                            </p:stCondLst>
                            <p:childTnLst>
                              <p:par>
                                <p:cTn id="55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300" fill="hold"/>
                                        <p:tgtEl>
                                          <p:spTgt spid="11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00" fill="hold"/>
                                        <p:tgtEl>
                                          <p:spTgt spid="11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00" fill="hold"/>
                                        <p:tgtEl>
                                          <p:spTgt spid="11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00" fill="hold"/>
                                        <p:tgtEl>
                                          <p:spTgt spid="11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100"/>
                            </p:stCondLst>
                            <p:childTnLst>
                              <p:par>
                                <p:cTn id="62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300" fill="hold"/>
                                        <p:tgtEl>
                                          <p:spTgt spid="11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00" fill="hold"/>
                                        <p:tgtEl>
                                          <p:spTgt spid="11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300" fill="hold"/>
                                        <p:tgtEl>
                                          <p:spTgt spid="11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00" fill="hold"/>
                                        <p:tgtEl>
                                          <p:spTgt spid="11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400"/>
                            </p:stCondLst>
                            <p:childTnLst>
                              <p:par>
                                <p:cTn id="69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300" fill="hold"/>
                                        <p:tgtEl>
                                          <p:spTgt spid="11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300" fill="hold"/>
                                        <p:tgtEl>
                                          <p:spTgt spid="11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300" fill="hold"/>
                                        <p:tgtEl>
                                          <p:spTgt spid="11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300" fill="hold"/>
                                        <p:tgtEl>
                                          <p:spTgt spid="11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700"/>
                            </p:stCondLst>
                            <p:childTnLst>
                              <p:par>
                                <p:cTn id="76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300" fill="hold"/>
                                        <p:tgtEl>
                                          <p:spTgt spid="11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00" fill="hold"/>
                                        <p:tgtEl>
                                          <p:spTgt spid="11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300" fill="hold"/>
                                        <p:tgtEl>
                                          <p:spTgt spid="11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300" fill="hold"/>
                                        <p:tgtEl>
                                          <p:spTgt spid="11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000"/>
                            </p:stCondLst>
                            <p:childTnLst>
                              <p:par>
                                <p:cTn id="83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300" fill="hold"/>
                                        <p:tgtEl>
                                          <p:spTgt spid="11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300" fill="hold"/>
                                        <p:tgtEl>
                                          <p:spTgt spid="11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300" fill="hold"/>
                                        <p:tgtEl>
                                          <p:spTgt spid="11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300" fill="hold"/>
                                        <p:tgtEl>
                                          <p:spTgt spid="11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300"/>
                            </p:stCondLst>
                            <p:childTnLst>
                              <p:par>
                                <p:cTn id="90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300" fill="hold"/>
                                        <p:tgtEl>
                                          <p:spTgt spid="11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300" fill="hold"/>
                                        <p:tgtEl>
                                          <p:spTgt spid="11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300" fill="hold"/>
                                        <p:tgtEl>
                                          <p:spTgt spid="11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300" fill="hold"/>
                                        <p:tgtEl>
                                          <p:spTgt spid="11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600"/>
                            </p:stCondLst>
                            <p:childTnLst>
                              <p:par>
                                <p:cTn id="97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300" fill="hold"/>
                                        <p:tgtEl>
                                          <p:spTgt spid="11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300" fill="hold"/>
                                        <p:tgtEl>
                                          <p:spTgt spid="11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300" fill="hold"/>
                                        <p:tgtEl>
                                          <p:spTgt spid="11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300" fill="hold"/>
                                        <p:tgtEl>
                                          <p:spTgt spid="11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3900"/>
                            </p:stCondLst>
                            <p:childTnLst>
                              <p:par>
                                <p:cTn id="104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300" fill="hold"/>
                                        <p:tgtEl>
                                          <p:spTgt spid="11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300" fill="hold"/>
                                        <p:tgtEl>
                                          <p:spTgt spid="11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300" fill="hold"/>
                                        <p:tgtEl>
                                          <p:spTgt spid="11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300" fill="hold"/>
                                        <p:tgtEl>
                                          <p:spTgt spid="11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4200"/>
                            </p:stCondLst>
                            <p:childTnLst>
                              <p:par>
                                <p:cTn id="111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300" fill="hold"/>
                                        <p:tgtEl>
                                          <p:spTgt spid="11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300" fill="hold"/>
                                        <p:tgtEl>
                                          <p:spTgt spid="11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300" fill="hold"/>
                                        <p:tgtEl>
                                          <p:spTgt spid="11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300" fill="hold"/>
                                        <p:tgtEl>
                                          <p:spTgt spid="11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4500"/>
                            </p:stCondLst>
                            <p:childTnLst>
                              <p:par>
                                <p:cTn id="118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300" fill="hold"/>
                                        <p:tgtEl>
                                          <p:spTgt spid="11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300" fill="hold"/>
                                        <p:tgtEl>
                                          <p:spTgt spid="11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300" fill="hold"/>
                                        <p:tgtEl>
                                          <p:spTgt spid="11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300" fill="hold"/>
                                        <p:tgtEl>
                                          <p:spTgt spid="11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4800"/>
                            </p:stCondLst>
                            <p:childTnLst>
                              <p:par>
                                <p:cTn id="125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300" fill="hold"/>
                                        <p:tgtEl>
                                          <p:spTgt spid="11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300" fill="hold"/>
                                        <p:tgtEl>
                                          <p:spTgt spid="11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300" fill="hold"/>
                                        <p:tgtEl>
                                          <p:spTgt spid="11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300" fill="hold"/>
                                        <p:tgtEl>
                                          <p:spTgt spid="11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100"/>
                            </p:stCondLst>
                            <p:childTnLst>
                              <p:par>
                                <p:cTn id="132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300" fill="hold"/>
                                        <p:tgtEl>
                                          <p:spTgt spid="11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300" fill="hold"/>
                                        <p:tgtEl>
                                          <p:spTgt spid="11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300" fill="hold"/>
                                        <p:tgtEl>
                                          <p:spTgt spid="11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300" fill="hold"/>
                                        <p:tgtEl>
                                          <p:spTgt spid="11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400"/>
                            </p:stCondLst>
                            <p:childTnLst>
                              <p:par>
                                <p:cTn id="139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300" fill="hold"/>
                                        <p:tgtEl>
                                          <p:spTgt spid="11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300" fill="hold"/>
                                        <p:tgtEl>
                                          <p:spTgt spid="11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300" fill="hold"/>
                                        <p:tgtEl>
                                          <p:spTgt spid="11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300" fill="hold"/>
                                        <p:tgtEl>
                                          <p:spTgt spid="11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5700"/>
                            </p:stCondLst>
                            <p:childTnLst>
                              <p:par>
                                <p:cTn id="146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300" fill="hold"/>
                                        <p:tgtEl>
                                          <p:spTgt spid="11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300" fill="hold"/>
                                        <p:tgtEl>
                                          <p:spTgt spid="11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300" fill="hold"/>
                                        <p:tgtEl>
                                          <p:spTgt spid="11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300" fill="hold"/>
                                        <p:tgtEl>
                                          <p:spTgt spid="11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6000"/>
                            </p:stCondLst>
                            <p:childTnLst>
                              <p:par>
                                <p:cTn id="153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300" fill="hold"/>
                                        <p:tgtEl>
                                          <p:spTgt spid="11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300" fill="hold"/>
                                        <p:tgtEl>
                                          <p:spTgt spid="11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300" fill="hold"/>
                                        <p:tgtEl>
                                          <p:spTgt spid="11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300" fill="hold"/>
                                        <p:tgtEl>
                                          <p:spTgt spid="11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6300"/>
                            </p:stCondLst>
                            <p:childTnLst>
                              <p:par>
                                <p:cTn id="160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300" fill="hold"/>
                                        <p:tgtEl>
                                          <p:spTgt spid="11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300" fill="hold"/>
                                        <p:tgtEl>
                                          <p:spTgt spid="11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300" fill="hold"/>
                                        <p:tgtEl>
                                          <p:spTgt spid="11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300" fill="hold"/>
                                        <p:tgtEl>
                                          <p:spTgt spid="11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6600"/>
                            </p:stCondLst>
                            <p:childTnLst>
                              <p:par>
                                <p:cTn id="167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300" fill="hold"/>
                                        <p:tgtEl>
                                          <p:spTgt spid="11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300" fill="hold"/>
                                        <p:tgtEl>
                                          <p:spTgt spid="11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300" fill="hold"/>
                                        <p:tgtEl>
                                          <p:spTgt spid="11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300" fill="hold"/>
                                        <p:tgtEl>
                                          <p:spTgt spid="11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6900"/>
                            </p:stCondLst>
                            <p:childTnLst>
                              <p:par>
                                <p:cTn id="174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2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300" fill="hold"/>
                                        <p:tgtEl>
                                          <p:spTgt spid="11">
                                            <p:graphicEl>
                                              <a:chart seriesIdx="-4" categoryIdx="2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300" fill="hold"/>
                                        <p:tgtEl>
                                          <p:spTgt spid="11">
                                            <p:graphicEl>
                                              <a:chart seriesIdx="-4" categoryIdx="2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300" fill="hold"/>
                                        <p:tgtEl>
                                          <p:spTgt spid="11">
                                            <p:graphicEl>
                                              <a:chart seriesIdx="-4" categoryIdx="2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300" fill="hold"/>
                                        <p:tgtEl>
                                          <p:spTgt spid="11">
                                            <p:graphicEl>
                                              <a:chart seriesIdx="-4" categoryIdx="2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7200"/>
                            </p:stCondLst>
                            <p:childTnLst>
                              <p:par>
                                <p:cTn id="181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2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3" dur="300" fill="hold"/>
                                        <p:tgtEl>
                                          <p:spTgt spid="11">
                                            <p:graphicEl>
                                              <a:chart seriesIdx="-4" categoryIdx="2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300" fill="hold"/>
                                        <p:tgtEl>
                                          <p:spTgt spid="11">
                                            <p:graphicEl>
                                              <a:chart seriesIdx="-4" categoryIdx="2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300" fill="hold"/>
                                        <p:tgtEl>
                                          <p:spTgt spid="11">
                                            <p:graphicEl>
                                              <a:chart seriesIdx="-4" categoryIdx="2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300" fill="hold"/>
                                        <p:tgtEl>
                                          <p:spTgt spid="11">
                                            <p:graphicEl>
                                              <a:chart seriesIdx="-4" categoryIdx="2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7500"/>
                            </p:stCondLst>
                            <p:childTnLst>
                              <p:par>
                                <p:cTn id="188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2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0" dur="300" fill="hold"/>
                                        <p:tgtEl>
                                          <p:spTgt spid="11">
                                            <p:graphicEl>
                                              <a:chart seriesIdx="-4" categoryIdx="2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300" fill="hold"/>
                                        <p:tgtEl>
                                          <p:spTgt spid="11">
                                            <p:graphicEl>
                                              <a:chart seriesIdx="-4" categoryIdx="2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300" fill="hold"/>
                                        <p:tgtEl>
                                          <p:spTgt spid="11">
                                            <p:graphicEl>
                                              <a:chart seriesIdx="-4" categoryIdx="2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300" fill="hold"/>
                                        <p:tgtEl>
                                          <p:spTgt spid="11">
                                            <p:graphicEl>
                                              <a:chart seriesIdx="-4" categoryIdx="2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7800"/>
                            </p:stCondLst>
                            <p:childTnLst>
                              <p:par>
                                <p:cTn id="195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2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300" fill="hold"/>
                                        <p:tgtEl>
                                          <p:spTgt spid="11">
                                            <p:graphicEl>
                                              <a:chart seriesIdx="-4" categoryIdx="2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300" fill="hold"/>
                                        <p:tgtEl>
                                          <p:spTgt spid="11">
                                            <p:graphicEl>
                                              <a:chart seriesIdx="-4" categoryIdx="2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300" fill="hold"/>
                                        <p:tgtEl>
                                          <p:spTgt spid="11">
                                            <p:graphicEl>
                                              <a:chart seriesIdx="-4" categoryIdx="2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300" fill="hold"/>
                                        <p:tgtEl>
                                          <p:spTgt spid="11">
                                            <p:graphicEl>
                                              <a:chart seriesIdx="-4" categoryIdx="2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8100"/>
                            </p:stCondLst>
                            <p:childTnLst>
                              <p:par>
                                <p:cTn id="202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2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4" dur="300" fill="hold"/>
                                        <p:tgtEl>
                                          <p:spTgt spid="11">
                                            <p:graphicEl>
                                              <a:chart seriesIdx="-4" categoryIdx="2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300" fill="hold"/>
                                        <p:tgtEl>
                                          <p:spTgt spid="11">
                                            <p:graphicEl>
                                              <a:chart seriesIdx="-4" categoryIdx="2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300" fill="hold"/>
                                        <p:tgtEl>
                                          <p:spTgt spid="11">
                                            <p:graphicEl>
                                              <a:chart seriesIdx="-4" categoryIdx="2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300" fill="hold"/>
                                        <p:tgtEl>
                                          <p:spTgt spid="11">
                                            <p:graphicEl>
                                              <a:chart seriesIdx="-4" categoryIdx="2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8400"/>
                            </p:stCondLst>
                            <p:childTnLst>
                              <p:par>
                                <p:cTn id="209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2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1" dur="300" fill="hold"/>
                                        <p:tgtEl>
                                          <p:spTgt spid="11">
                                            <p:graphicEl>
                                              <a:chart seriesIdx="-4" categoryIdx="2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300" fill="hold"/>
                                        <p:tgtEl>
                                          <p:spTgt spid="11">
                                            <p:graphicEl>
                                              <a:chart seriesIdx="-4" categoryIdx="2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300" fill="hold"/>
                                        <p:tgtEl>
                                          <p:spTgt spid="11">
                                            <p:graphicEl>
                                              <a:chart seriesIdx="-4" categoryIdx="2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300" fill="hold"/>
                                        <p:tgtEl>
                                          <p:spTgt spid="11">
                                            <p:graphicEl>
                                              <a:chart seriesIdx="-4" categoryIdx="2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8700"/>
                            </p:stCondLst>
                            <p:childTnLst>
                              <p:par>
                                <p:cTn id="216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2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8" dur="300" fill="hold"/>
                                        <p:tgtEl>
                                          <p:spTgt spid="11">
                                            <p:graphicEl>
                                              <a:chart seriesIdx="-4" categoryIdx="2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300" fill="hold"/>
                                        <p:tgtEl>
                                          <p:spTgt spid="11">
                                            <p:graphicEl>
                                              <a:chart seriesIdx="-4" categoryIdx="2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300" fill="hold"/>
                                        <p:tgtEl>
                                          <p:spTgt spid="11">
                                            <p:graphicEl>
                                              <a:chart seriesIdx="-4" categoryIdx="2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300" fill="hold"/>
                                        <p:tgtEl>
                                          <p:spTgt spid="11">
                                            <p:graphicEl>
                                              <a:chart seriesIdx="-4" categoryIdx="2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9000"/>
                            </p:stCondLst>
                            <p:childTnLst>
                              <p:par>
                                <p:cTn id="223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3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5" dur="300" fill="hold"/>
                                        <p:tgtEl>
                                          <p:spTgt spid="11">
                                            <p:graphicEl>
                                              <a:chart seriesIdx="-4" categoryIdx="3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300" fill="hold"/>
                                        <p:tgtEl>
                                          <p:spTgt spid="11">
                                            <p:graphicEl>
                                              <a:chart seriesIdx="-4" categoryIdx="3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300" fill="hold"/>
                                        <p:tgtEl>
                                          <p:spTgt spid="11">
                                            <p:graphicEl>
                                              <a:chart seriesIdx="-4" categoryIdx="3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300" fill="hold"/>
                                        <p:tgtEl>
                                          <p:spTgt spid="11">
                                            <p:graphicEl>
                                              <a:chart seriesIdx="-4" categoryIdx="3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9300"/>
                            </p:stCondLst>
                            <p:childTnLst>
                              <p:par>
                                <p:cTn id="230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3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2" dur="300" fill="hold"/>
                                        <p:tgtEl>
                                          <p:spTgt spid="11">
                                            <p:graphicEl>
                                              <a:chart seriesIdx="-4" categoryIdx="3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300" fill="hold"/>
                                        <p:tgtEl>
                                          <p:spTgt spid="11">
                                            <p:graphicEl>
                                              <a:chart seriesIdx="-4" categoryIdx="3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300" fill="hold"/>
                                        <p:tgtEl>
                                          <p:spTgt spid="11">
                                            <p:graphicEl>
                                              <a:chart seriesIdx="-4" categoryIdx="3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300" fill="hold"/>
                                        <p:tgtEl>
                                          <p:spTgt spid="11">
                                            <p:graphicEl>
                                              <a:chart seriesIdx="-4" categoryIdx="3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9600"/>
                            </p:stCondLst>
                            <p:childTnLst>
                              <p:par>
                                <p:cTn id="237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3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9" dur="300" fill="hold"/>
                                        <p:tgtEl>
                                          <p:spTgt spid="11">
                                            <p:graphicEl>
                                              <a:chart seriesIdx="-4" categoryIdx="3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300" fill="hold"/>
                                        <p:tgtEl>
                                          <p:spTgt spid="11">
                                            <p:graphicEl>
                                              <a:chart seriesIdx="-4" categoryIdx="3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300" fill="hold"/>
                                        <p:tgtEl>
                                          <p:spTgt spid="11">
                                            <p:graphicEl>
                                              <a:chart seriesIdx="-4" categoryIdx="3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300" fill="hold"/>
                                        <p:tgtEl>
                                          <p:spTgt spid="11">
                                            <p:graphicEl>
                                              <a:chart seriesIdx="-4" categoryIdx="3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9900"/>
                            </p:stCondLst>
                            <p:childTnLst>
                              <p:par>
                                <p:cTn id="244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3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6" dur="300" fill="hold"/>
                                        <p:tgtEl>
                                          <p:spTgt spid="11">
                                            <p:graphicEl>
                                              <a:chart seriesIdx="-4" categoryIdx="3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300" fill="hold"/>
                                        <p:tgtEl>
                                          <p:spTgt spid="11">
                                            <p:graphicEl>
                                              <a:chart seriesIdx="-4" categoryIdx="3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300" fill="hold"/>
                                        <p:tgtEl>
                                          <p:spTgt spid="11">
                                            <p:graphicEl>
                                              <a:chart seriesIdx="-4" categoryIdx="3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300" fill="hold"/>
                                        <p:tgtEl>
                                          <p:spTgt spid="11">
                                            <p:graphicEl>
                                              <a:chart seriesIdx="-4" categoryIdx="3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10200"/>
                            </p:stCondLst>
                            <p:childTnLst>
                              <p:par>
                                <p:cTn id="251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3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3" dur="300" fill="hold"/>
                                        <p:tgtEl>
                                          <p:spTgt spid="11">
                                            <p:graphicEl>
                                              <a:chart seriesIdx="-4" categoryIdx="3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300" fill="hold"/>
                                        <p:tgtEl>
                                          <p:spTgt spid="11">
                                            <p:graphicEl>
                                              <a:chart seriesIdx="-4" categoryIdx="3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300" fill="hold"/>
                                        <p:tgtEl>
                                          <p:spTgt spid="11">
                                            <p:graphicEl>
                                              <a:chart seriesIdx="-4" categoryIdx="3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300" fill="hold"/>
                                        <p:tgtEl>
                                          <p:spTgt spid="11">
                                            <p:graphicEl>
                                              <a:chart seriesIdx="-4" categoryIdx="3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" fill="hold">
                            <p:stCondLst>
                              <p:cond delay="10500"/>
                            </p:stCondLst>
                            <p:childTnLst>
                              <p:par>
                                <p:cTn id="258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3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0" dur="300" fill="hold"/>
                                        <p:tgtEl>
                                          <p:spTgt spid="11">
                                            <p:graphicEl>
                                              <a:chart seriesIdx="-4" categoryIdx="3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" dur="300" fill="hold"/>
                                        <p:tgtEl>
                                          <p:spTgt spid="11">
                                            <p:graphicEl>
                                              <a:chart seriesIdx="-4" categoryIdx="3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2" dur="300" fill="hold"/>
                                        <p:tgtEl>
                                          <p:spTgt spid="11">
                                            <p:graphicEl>
                                              <a:chart seriesIdx="-4" categoryIdx="3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300" fill="hold"/>
                                        <p:tgtEl>
                                          <p:spTgt spid="11">
                                            <p:graphicEl>
                                              <a:chart seriesIdx="-4" categoryIdx="3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10800"/>
                            </p:stCondLst>
                            <p:childTnLst>
                              <p:par>
                                <p:cTn id="265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3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7" dur="300" fill="hold"/>
                                        <p:tgtEl>
                                          <p:spTgt spid="11">
                                            <p:graphicEl>
                                              <a:chart seriesIdx="-4" categoryIdx="3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8" dur="300" fill="hold"/>
                                        <p:tgtEl>
                                          <p:spTgt spid="11">
                                            <p:graphicEl>
                                              <a:chart seriesIdx="-4" categoryIdx="3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9" dur="300" fill="hold"/>
                                        <p:tgtEl>
                                          <p:spTgt spid="11">
                                            <p:graphicEl>
                                              <a:chart seriesIdx="-4" categoryIdx="3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300" fill="hold"/>
                                        <p:tgtEl>
                                          <p:spTgt spid="11">
                                            <p:graphicEl>
                                              <a:chart seriesIdx="-4" categoryIdx="3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11100"/>
                            </p:stCondLst>
                            <p:childTnLst>
                              <p:par>
                                <p:cTn id="272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3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4" dur="300" fill="hold"/>
                                        <p:tgtEl>
                                          <p:spTgt spid="11">
                                            <p:graphicEl>
                                              <a:chart seriesIdx="-4" categoryIdx="3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5" dur="300" fill="hold"/>
                                        <p:tgtEl>
                                          <p:spTgt spid="11">
                                            <p:graphicEl>
                                              <a:chart seriesIdx="-4" categoryIdx="3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6" dur="300" fill="hold"/>
                                        <p:tgtEl>
                                          <p:spTgt spid="11">
                                            <p:graphicEl>
                                              <a:chart seriesIdx="-4" categoryIdx="3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300" fill="hold"/>
                                        <p:tgtEl>
                                          <p:spTgt spid="11">
                                            <p:graphicEl>
                                              <a:chart seriesIdx="-4" categoryIdx="3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>
                            <p:stCondLst>
                              <p:cond delay="11400"/>
                            </p:stCondLst>
                            <p:childTnLst>
                              <p:par>
                                <p:cTn id="279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3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1" dur="300" fill="hold"/>
                                        <p:tgtEl>
                                          <p:spTgt spid="11">
                                            <p:graphicEl>
                                              <a:chart seriesIdx="-4" categoryIdx="3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2" dur="300" fill="hold"/>
                                        <p:tgtEl>
                                          <p:spTgt spid="11">
                                            <p:graphicEl>
                                              <a:chart seriesIdx="-4" categoryIdx="3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" dur="300" fill="hold"/>
                                        <p:tgtEl>
                                          <p:spTgt spid="11">
                                            <p:graphicEl>
                                              <a:chart seriesIdx="-4" categoryIdx="3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300" fill="hold"/>
                                        <p:tgtEl>
                                          <p:spTgt spid="11">
                                            <p:graphicEl>
                                              <a:chart seriesIdx="-4" categoryIdx="3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5" fill="hold">
                            <p:stCondLst>
                              <p:cond delay="11700"/>
                            </p:stCondLst>
                            <p:childTnLst>
                              <p:par>
                                <p:cTn id="286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3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8" dur="300" fill="hold"/>
                                        <p:tgtEl>
                                          <p:spTgt spid="11">
                                            <p:graphicEl>
                                              <a:chart seriesIdx="-4" categoryIdx="3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9" dur="300" fill="hold"/>
                                        <p:tgtEl>
                                          <p:spTgt spid="11">
                                            <p:graphicEl>
                                              <a:chart seriesIdx="-4" categoryIdx="3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0" dur="300" fill="hold"/>
                                        <p:tgtEl>
                                          <p:spTgt spid="11">
                                            <p:graphicEl>
                                              <a:chart seriesIdx="-4" categoryIdx="3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300" fill="hold"/>
                                        <p:tgtEl>
                                          <p:spTgt spid="11">
                                            <p:graphicEl>
                                              <a:chart seriesIdx="-4" categoryIdx="3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 uiExpand="1">
        <p:bldSub>
          <a:bldChart bld="category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0B89D809-367C-4BE8-B6C9-EC93FB739F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CF23C4C2-49F7-40F5-9A56-37CA2265EE43}"/>
              </a:ext>
            </a:extLst>
          </p:cNvPr>
          <p:cNvSpPr txBox="1">
            <a:spLocks/>
          </p:cNvSpPr>
          <p:nvPr/>
        </p:nvSpPr>
        <p:spPr>
          <a:xfrm>
            <a:off x="884181" y="94592"/>
            <a:ext cx="4949060" cy="8063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2800" b="1" kern="22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什么样的商铺最受投资者欢迎？</a:t>
            </a:r>
          </a:p>
        </p:txBody>
      </p:sp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B49C6881-1699-407B-BD75-7269BFAA24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2214861"/>
              </p:ext>
            </p:extLst>
          </p:nvPr>
        </p:nvGraphicFramePr>
        <p:xfrm>
          <a:off x="373112" y="2312275"/>
          <a:ext cx="5307727" cy="40131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16AEFE9F-5046-4C74-BA4A-FD37CF06B58A}"/>
              </a:ext>
            </a:extLst>
          </p:cNvPr>
          <p:cNvSpPr txBox="1"/>
          <p:nvPr/>
        </p:nvSpPr>
        <p:spPr>
          <a:xfrm>
            <a:off x="2385845" y="1588371"/>
            <a:ext cx="1660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建筑面积</a:t>
            </a:r>
          </a:p>
        </p:txBody>
      </p:sp>
      <p:graphicFrame>
        <p:nvGraphicFramePr>
          <p:cNvPr id="9" name="图表 8">
            <a:extLst>
              <a:ext uri="{FF2B5EF4-FFF2-40B4-BE49-F238E27FC236}">
                <a16:creationId xmlns:a16="http://schemas.microsoft.com/office/drawing/2014/main" id="{468A44BE-3D7B-4833-9035-E04FAECD6B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1696614"/>
              </p:ext>
            </p:extLst>
          </p:nvPr>
        </p:nvGraphicFramePr>
        <p:xfrm>
          <a:off x="6264163" y="2198471"/>
          <a:ext cx="5307727" cy="40131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58DC84E3-3FEE-4377-B8A2-3097549EFD2C}"/>
              </a:ext>
            </a:extLst>
          </p:cNvPr>
          <p:cNvSpPr txBox="1"/>
          <p:nvPr/>
        </p:nvSpPr>
        <p:spPr>
          <a:xfrm>
            <a:off x="8271638" y="1552084"/>
            <a:ext cx="1660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成交价格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317877-67CC-42CD-A4C4-3D6A0F2B3CAE}"/>
              </a:ext>
            </a:extLst>
          </p:cNvPr>
          <p:cNvSpPr txBox="1"/>
          <p:nvPr/>
        </p:nvSpPr>
        <p:spPr>
          <a:xfrm>
            <a:off x="9890235" y="94592"/>
            <a:ext cx="22071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1" dirty="0">
                <a:solidFill>
                  <a:schemeClr val="bg1"/>
                </a:solidFill>
              </a:rPr>
              <a:t>样本数量：</a:t>
            </a:r>
            <a:r>
              <a:rPr lang="en-US" altLang="zh-CN" sz="1600" i="1" dirty="0">
                <a:solidFill>
                  <a:schemeClr val="bg1"/>
                </a:solidFill>
              </a:rPr>
              <a:t>1332</a:t>
            </a:r>
            <a:r>
              <a:rPr lang="zh-CN" altLang="en-US" sz="1600" i="1" dirty="0">
                <a:solidFill>
                  <a:schemeClr val="bg1"/>
                </a:solidFill>
              </a:rPr>
              <a:t>套</a:t>
            </a:r>
          </a:p>
        </p:txBody>
      </p:sp>
    </p:spTree>
    <p:extLst>
      <p:ext uri="{BB962C8B-B14F-4D97-AF65-F5344CB8AC3E}">
        <p14:creationId xmlns:p14="http://schemas.microsoft.com/office/powerpoint/2010/main" val="3011418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300" fill="hold"/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00" fill="hold"/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00" fill="hold"/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"/>
                            </p:stCondLst>
                            <p:childTnLst>
                              <p:par>
                                <p:cTn id="32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300" fill="hold"/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00" fill="hold"/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600"/>
                            </p:stCondLst>
                            <p:childTnLst>
                              <p:par>
                                <p:cTn id="3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300" fill="hold"/>
                                        <p:tgtEl>
                                          <p:spTgt spid="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00" fill="hold"/>
                                        <p:tgtEl>
                                          <p:spTgt spid="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00" fill="hold"/>
                                        <p:tgtEl>
                                          <p:spTgt spid="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00" fill="hold"/>
                                        <p:tgtEl>
                                          <p:spTgt spid="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900"/>
                            </p:stCondLst>
                            <p:childTnLst>
                              <p:par>
                                <p:cTn id="46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300" fill="hold"/>
                                        <p:tgtEl>
                                          <p:spTgt spid="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00" fill="hold"/>
                                        <p:tgtEl>
                                          <p:spTgt spid="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300" fill="hold"/>
                                        <p:tgtEl>
                                          <p:spTgt spid="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00" fill="hold"/>
                                        <p:tgtEl>
                                          <p:spTgt spid="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00"/>
                            </p:stCondLst>
                            <p:childTnLst>
                              <p:par>
                                <p:cTn id="53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300" fill="hold"/>
                                        <p:tgtEl>
                                          <p:spTgt spid="5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00" fill="hold"/>
                                        <p:tgtEl>
                                          <p:spTgt spid="5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00" fill="hold"/>
                                        <p:tgtEl>
                                          <p:spTgt spid="5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00" fill="hold"/>
                                        <p:tgtEl>
                                          <p:spTgt spid="5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300" fill="hold"/>
                                        <p:tgtEl>
                                          <p:spTgt spid="5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300" fill="hold"/>
                                        <p:tgtEl>
                                          <p:spTgt spid="5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300" fill="hold"/>
                                        <p:tgtEl>
                                          <p:spTgt spid="5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00" fill="hold"/>
                                        <p:tgtEl>
                                          <p:spTgt spid="5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300" fill="hold"/>
                                        <p:tgtEl>
                                          <p:spTgt spid="9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300" fill="hold"/>
                                        <p:tgtEl>
                                          <p:spTgt spid="9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300" fill="hold"/>
                                        <p:tgtEl>
                                          <p:spTgt spid="9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300" fill="hold"/>
                                        <p:tgtEl>
                                          <p:spTgt spid="9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300" fill="hold"/>
                                        <p:tgtEl>
                                          <p:spTgt spid="9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00" fill="hold"/>
                                        <p:tgtEl>
                                          <p:spTgt spid="9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300" fill="hold"/>
                                        <p:tgtEl>
                                          <p:spTgt spid="9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300" fill="hold"/>
                                        <p:tgtEl>
                                          <p:spTgt spid="9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00"/>
                            </p:stCondLst>
                            <p:childTnLst>
                              <p:par>
                                <p:cTn id="83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300" fill="hold"/>
                                        <p:tgtEl>
                                          <p:spTgt spid="9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300" fill="hold"/>
                                        <p:tgtEl>
                                          <p:spTgt spid="9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300" fill="hold"/>
                                        <p:tgtEl>
                                          <p:spTgt spid="9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300" fill="hold"/>
                                        <p:tgtEl>
                                          <p:spTgt spid="9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600"/>
                            </p:stCondLst>
                            <p:childTnLst>
                              <p:par>
                                <p:cTn id="9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300" fill="hold"/>
                                        <p:tgtEl>
                                          <p:spTgt spid="9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300" fill="hold"/>
                                        <p:tgtEl>
                                          <p:spTgt spid="9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300" fill="hold"/>
                                        <p:tgtEl>
                                          <p:spTgt spid="9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300" fill="hold"/>
                                        <p:tgtEl>
                                          <p:spTgt spid="9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900"/>
                            </p:stCondLst>
                            <p:childTnLst>
                              <p:par>
                                <p:cTn id="97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300" fill="hold"/>
                                        <p:tgtEl>
                                          <p:spTgt spid="9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300" fill="hold"/>
                                        <p:tgtEl>
                                          <p:spTgt spid="9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300" fill="hold"/>
                                        <p:tgtEl>
                                          <p:spTgt spid="9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300" fill="hold"/>
                                        <p:tgtEl>
                                          <p:spTgt spid="9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200"/>
                            </p:stCondLst>
                            <p:childTnLst>
                              <p:par>
                                <p:cTn id="104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300" fill="hold"/>
                                        <p:tgtEl>
                                          <p:spTgt spid="9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300" fill="hold"/>
                                        <p:tgtEl>
                                          <p:spTgt spid="9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300" fill="hold"/>
                                        <p:tgtEl>
                                          <p:spTgt spid="9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300" fill="hold"/>
                                        <p:tgtEl>
                                          <p:spTgt spid="9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Chart bld="category"/>
        </p:bldSub>
      </p:bldGraphic>
      <p:bldP spid="6" grpId="0"/>
      <p:bldGraphic spid="9" grpId="0" uiExpand="1">
        <p:bldSub>
          <a:bldChart bld="category"/>
        </p:bldSub>
      </p:bldGraphic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0B89D809-367C-4BE8-B6C9-EC93FB739F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CF23C4C2-49F7-40F5-9A56-37CA2265EE43}"/>
              </a:ext>
            </a:extLst>
          </p:cNvPr>
          <p:cNvSpPr txBox="1">
            <a:spLocks/>
          </p:cNvSpPr>
          <p:nvPr/>
        </p:nvSpPr>
        <p:spPr>
          <a:xfrm>
            <a:off x="884181" y="94592"/>
            <a:ext cx="4949060" cy="8063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2800" b="1" kern="22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男客户喜欢投资还是女客户？</a:t>
            </a:r>
          </a:p>
        </p:txBody>
      </p:sp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0DB51233-EE60-460C-BAA6-8E226802F22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0339190"/>
              </p:ext>
            </p:extLst>
          </p:nvPr>
        </p:nvGraphicFramePr>
        <p:xfrm>
          <a:off x="1818290" y="1303283"/>
          <a:ext cx="8555420" cy="50712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3A0CA524-06DF-4281-A73A-0007DC7BCB97}"/>
              </a:ext>
            </a:extLst>
          </p:cNvPr>
          <p:cNvSpPr txBox="1"/>
          <p:nvPr/>
        </p:nvSpPr>
        <p:spPr>
          <a:xfrm>
            <a:off x="9890235" y="94592"/>
            <a:ext cx="22071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1" dirty="0">
                <a:solidFill>
                  <a:schemeClr val="bg1"/>
                </a:solidFill>
              </a:rPr>
              <a:t>样本数量：</a:t>
            </a:r>
            <a:r>
              <a:rPr lang="en-US" altLang="zh-CN" sz="1600" i="1" dirty="0">
                <a:solidFill>
                  <a:schemeClr val="bg1"/>
                </a:solidFill>
              </a:rPr>
              <a:t>2442</a:t>
            </a:r>
            <a:r>
              <a:rPr lang="zh-CN" altLang="en-US" sz="1600" i="1" dirty="0">
                <a:solidFill>
                  <a:schemeClr val="bg1"/>
                </a:solidFill>
              </a:rPr>
              <a:t>人</a:t>
            </a:r>
          </a:p>
        </p:txBody>
      </p:sp>
    </p:spTree>
    <p:extLst>
      <p:ext uri="{BB962C8B-B14F-4D97-AF65-F5344CB8AC3E}">
        <p14:creationId xmlns:p14="http://schemas.microsoft.com/office/powerpoint/2010/main" val="1674036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"/>
                            </p:stCondLst>
                            <p:childTnLst>
                              <p:par>
                                <p:cTn id="2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00" fill="hold"/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Chart bld="category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0B89D809-367C-4BE8-B6C9-EC93FB739F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CF23C4C2-49F7-40F5-9A56-37CA2265EE43}"/>
              </a:ext>
            </a:extLst>
          </p:cNvPr>
          <p:cNvSpPr txBox="1">
            <a:spLocks/>
          </p:cNvSpPr>
          <p:nvPr/>
        </p:nvSpPr>
        <p:spPr>
          <a:xfrm>
            <a:off x="884180" y="94592"/>
            <a:ext cx="7482054" cy="8063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2800" b="1" kern="22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重庆主城区还是外省的客户更愿意投资商铺？</a:t>
            </a:r>
          </a:p>
        </p:txBody>
      </p:sp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A95627EC-6AF8-4312-94B0-EC0FCE1998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63619432"/>
              </p:ext>
            </p:extLst>
          </p:nvPr>
        </p:nvGraphicFramePr>
        <p:xfrm>
          <a:off x="1576552" y="1510862"/>
          <a:ext cx="8508124" cy="52525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4CC0E1EF-6847-48DA-B699-D87F20B4FFB9}"/>
              </a:ext>
            </a:extLst>
          </p:cNvPr>
          <p:cNvSpPr txBox="1"/>
          <p:nvPr/>
        </p:nvSpPr>
        <p:spPr>
          <a:xfrm>
            <a:off x="9890235" y="94592"/>
            <a:ext cx="22071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1" dirty="0">
                <a:solidFill>
                  <a:schemeClr val="bg1"/>
                </a:solidFill>
              </a:rPr>
              <a:t>样本数量：</a:t>
            </a:r>
            <a:r>
              <a:rPr lang="en-US" altLang="zh-CN" sz="1600" i="1" dirty="0">
                <a:solidFill>
                  <a:schemeClr val="bg1"/>
                </a:solidFill>
              </a:rPr>
              <a:t>2442</a:t>
            </a:r>
            <a:r>
              <a:rPr lang="zh-CN" altLang="en-US" sz="1600" i="1" dirty="0">
                <a:solidFill>
                  <a:schemeClr val="bg1"/>
                </a:solidFill>
              </a:rPr>
              <a:t>人</a:t>
            </a:r>
          </a:p>
        </p:txBody>
      </p:sp>
    </p:spTree>
    <p:extLst>
      <p:ext uri="{BB962C8B-B14F-4D97-AF65-F5344CB8AC3E}">
        <p14:creationId xmlns:p14="http://schemas.microsoft.com/office/powerpoint/2010/main" val="417271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"/>
                            </p:stCondLst>
                            <p:childTnLst>
                              <p:par>
                                <p:cTn id="2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00" fill="hold"/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00"/>
                            </p:stCondLst>
                            <p:childTnLst>
                              <p:par>
                                <p:cTn id="27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00" fill="hold"/>
                                        <p:tgtEl>
                                          <p:spTgt spid="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00" fill="hold"/>
                                        <p:tgtEl>
                                          <p:spTgt spid="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Chart bld="category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0B89D809-367C-4BE8-B6C9-EC93FB739F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CF23C4C2-49F7-40F5-9A56-37CA2265EE43}"/>
              </a:ext>
            </a:extLst>
          </p:cNvPr>
          <p:cNvSpPr txBox="1">
            <a:spLocks/>
          </p:cNvSpPr>
          <p:nvPr/>
        </p:nvSpPr>
        <p:spPr>
          <a:xfrm>
            <a:off x="884180" y="94592"/>
            <a:ext cx="7482054" cy="8063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2800" b="1" kern="22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客户最热衷投资哪个区域的商铺？</a:t>
            </a:r>
          </a:p>
        </p:txBody>
      </p:sp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00752225-23D5-4133-BFC4-A55900E153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0470922"/>
              </p:ext>
            </p:extLst>
          </p:nvPr>
        </p:nvGraphicFramePr>
        <p:xfrm>
          <a:off x="262759" y="1261241"/>
          <a:ext cx="11666482" cy="55021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788F19E2-80E9-451B-B212-123745D8C3CD}"/>
              </a:ext>
            </a:extLst>
          </p:cNvPr>
          <p:cNvSpPr txBox="1"/>
          <p:nvPr/>
        </p:nvSpPr>
        <p:spPr>
          <a:xfrm>
            <a:off x="9890235" y="94592"/>
            <a:ext cx="22071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1" dirty="0">
                <a:solidFill>
                  <a:schemeClr val="bg1"/>
                </a:solidFill>
              </a:rPr>
              <a:t>样本数量：</a:t>
            </a:r>
            <a:r>
              <a:rPr lang="en-US" altLang="zh-CN" sz="1600" i="1" dirty="0">
                <a:solidFill>
                  <a:schemeClr val="bg1"/>
                </a:solidFill>
              </a:rPr>
              <a:t>4910</a:t>
            </a:r>
            <a:r>
              <a:rPr lang="zh-CN" altLang="en-US" sz="1600" i="1" dirty="0">
                <a:solidFill>
                  <a:schemeClr val="bg1"/>
                </a:solidFill>
              </a:rPr>
              <a:t>人</a:t>
            </a:r>
          </a:p>
        </p:txBody>
      </p:sp>
    </p:spTree>
    <p:extLst>
      <p:ext uri="{BB962C8B-B14F-4D97-AF65-F5344CB8AC3E}">
        <p14:creationId xmlns:p14="http://schemas.microsoft.com/office/powerpoint/2010/main" val="59229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"/>
                            </p:stCondLst>
                            <p:childTnLst>
                              <p:par>
                                <p:cTn id="20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00" fill="hold"/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00"/>
                            </p:stCondLst>
                            <p:childTnLst>
                              <p:par>
                                <p:cTn id="27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00" fill="hold"/>
                                        <p:tgtEl>
                                          <p:spTgt spid="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00" fill="hold"/>
                                        <p:tgtEl>
                                          <p:spTgt spid="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900"/>
                            </p:stCondLst>
                            <p:childTnLst>
                              <p:par>
                                <p:cTn id="34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00" fill="hold"/>
                                        <p:tgtEl>
                                          <p:spTgt spid="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00" fill="hold"/>
                                        <p:tgtEl>
                                          <p:spTgt spid="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00" fill="hold"/>
                                        <p:tgtEl>
                                          <p:spTgt spid="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00"/>
                            </p:stCondLst>
                            <p:childTnLst>
                              <p:par>
                                <p:cTn id="41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300" fill="hold"/>
                                        <p:tgtEl>
                                          <p:spTgt spid="5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00" fill="hold"/>
                                        <p:tgtEl>
                                          <p:spTgt spid="5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00" fill="hold"/>
                                        <p:tgtEl>
                                          <p:spTgt spid="5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00" fill="hold"/>
                                        <p:tgtEl>
                                          <p:spTgt spid="5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300" fill="hold"/>
                                        <p:tgtEl>
                                          <p:spTgt spid="5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00" fill="hold"/>
                                        <p:tgtEl>
                                          <p:spTgt spid="5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5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00" fill="hold"/>
                                        <p:tgtEl>
                                          <p:spTgt spid="5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800"/>
                            </p:stCondLst>
                            <p:childTnLst>
                              <p:par>
                                <p:cTn id="55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300" fill="hold"/>
                                        <p:tgtEl>
                                          <p:spTgt spid="5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00" fill="hold"/>
                                        <p:tgtEl>
                                          <p:spTgt spid="5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00" fill="hold"/>
                                        <p:tgtEl>
                                          <p:spTgt spid="5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00" fill="hold"/>
                                        <p:tgtEl>
                                          <p:spTgt spid="5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100"/>
                            </p:stCondLst>
                            <p:childTnLst>
                              <p:par>
                                <p:cTn id="62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300" fill="hold"/>
                                        <p:tgtEl>
                                          <p:spTgt spid="5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00" fill="hold"/>
                                        <p:tgtEl>
                                          <p:spTgt spid="5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300" fill="hold"/>
                                        <p:tgtEl>
                                          <p:spTgt spid="5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00" fill="hold"/>
                                        <p:tgtEl>
                                          <p:spTgt spid="5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400"/>
                            </p:stCondLst>
                            <p:childTnLst>
                              <p:par>
                                <p:cTn id="69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300" fill="hold"/>
                                        <p:tgtEl>
                                          <p:spTgt spid="5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300" fill="hold"/>
                                        <p:tgtEl>
                                          <p:spTgt spid="5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300" fill="hold"/>
                                        <p:tgtEl>
                                          <p:spTgt spid="5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300" fill="hold"/>
                                        <p:tgtEl>
                                          <p:spTgt spid="5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Chart bld="category"/>
        </p:bldSub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0B89D809-367C-4BE8-B6C9-EC93FB739F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CF23C4C2-49F7-40F5-9A56-37CA2265EE43}"/>
              </a:ext>
            </a:extLst>
          </p:cNvPr>
          <p:cNvSpPr txBox="1">
            <a:spLocks/>
          </p:cNvSpPr>
          <p:nvPr/>
        </p:nvSpPr>
        <p:spPr>
          <a:xfrm>
            <a:off x="884180" y="94592"/>
            <a:ext cx="7482054" cy="8063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2800" b="1" kern="22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客户活动热力图</a:t>
            </a:r>
            <a:r>
              <a:rPr lang="en-US" altLang="zh-CN" sz="2800" b="1" kern="22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——</a:t>
            </a:r>
            <a:r>
              <a:rPr lang="zh-CN" altLang="en-US" sz="2800" b="1" kern="22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周</a:t>
            </a:r>
          </a:p>
        </p:txBody>
      </p:sp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C7560E44-A4D0-4582-941F-7765154E16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242762"/>
              </p:ext>
            </p:extLst>
          </p:nvPr>
        </p:nvGraphicFramePr>
        <p:xfrm>
          <a:off x="546537" y="2057400"/>
          <a:ext cx="11077903" cy="44064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35F4B34B-DCA5-422D-862D-1A821D914465}"/>
              </a:ext>
            </a:extLst>
          </p:cNvPr>
          <p:cNvSpPr txBox="1"/>
          <p:nvPr/>
        </p:nvSpPr>
        <p:spPr>
          <a:xfrm>
            <a:off x="9890235" y="94592"/>
            <a:ext cx="22071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1" dirty="0">
                <a:solidFill>
                  <a:schemeClr val="bg1"/>
                </a:solidFill>
              </a:rPr>
              <a:t>样本数量：</a:t>
            </a:r>
            <a:r>
              <a:rPr lang="en-US" altLang="zh-CN" sz="1600" i="1" dirty="0">
                <a:solidFill>
                  <a:schemeClr val="bg1"/>
                </a:solidFill>
              </a:rPr>
              <a:t>1251</a:t>
            </a:r>
            <a:r>
              <a:rPr lang="zh-CN" altLang="en-US" sz="1600" i="1" dirty="0">
                <a:solidFill>
                  <a:schemeClr val="bg1"/>
                </a:solidFill>
              </a:rPr>
              <a:t>人</a:t>
            </a:r>
          </a:p>
        </p:txBody>
      </p:sp>
    </p:spTree>
    <p:extLst>
      <p:ext uri="{BB962C8B-B14F-4D97-AF65-F5344CB8AC3E}">
        <p14:creationId xmlns:p14="http://schemas.microsoft.com/office/powerpoint/2010/main" val="310232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"/>
                            </p:stCondLst>
                            <p:childTnLst>
                              <p:par>
                                <p:cTn id="2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00" fill="hold"/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00"/>
                            </p:stCondLst>
                            <p:childTnLst>
                              <p:par>
                                <p:cTn id="27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00" fill="hold"/>
                                        <p:tgtEl>
                                          <p:spTgt spid="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00" fill="hold"/>
                                        <p:tgtEl>
                                          <p:spTgt spid="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900"/>
                            </p:stCondLst>
                            <p:childTnLst>
                              <p:par>
                                <p:cTn id="34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6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00" fill="hold"/>
                                        <p:tgtEl>
                                          <p:spTgt spid="6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00" fill="hold"/>
                                        <p:tgtEl>
                                          <p:spTgt spid="6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00" fill="hold"/>
                                        <p:tgtEl>
                                          <p:spTgt spid="6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00"/>
                            </p:stCondLst>
                            <p:childTnLst>
                              <p:par>
                                <p:cTn id="41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300" fill="hold"/>
                                        <p:tgtEl>
                                          <p:spTgt spid="6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00" fill="hold"/>
                                        <p:tgtEl>
                                          <p:spTgt spid="6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00" fill="hold"/>
                                        <p:tgtEl>
                                          <p:spTgt spid="6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00" fill="hold"/>
                                        <p:tgtEl>
                                          <p:spTgt spid="6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300" fill="hold"/>
                                        <p:tgtEl>
                                          <p:spTgt spid="6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00" fill="hold"/>
                                        <p:tgtEl>
                                          <p:spTgt spid="6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6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00" fill="hold"/>
                                        <p:tgtEl>
                                          <p:spTgt spid="6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800"/>
                            </p:stCondLst>
                            <p:childTnLst>
                              <p:par>
                                <p:cTn id="5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300" fill="hold"/>
                                        <p:tgtEl>
                                          <p:spTgt spid="6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00" fill="hold"/>
                                        <p:tgtEl>
                                          <p:spTgt spid="6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00" fill="hold"/>
                                        <p:tgtEl>
                                          <p:spTgt spid="6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00" fill="hold"/>
                                        <p:tgtEl>
                                          <p:spTgt spid="6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Chart bld="category"/>
        </p:bldSub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0B89D809-367C-4BE8-B6C9-EC93FB739F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CF23C4C2-49F7-40F5-9A56-37CA2265EE43}"/>
              </a:ext>
            </a:extLst>
          </p:cNvPr>
          <p:cNvSpPr txBox="1">
            <a:spLocks/>
          </p:cNvSpPr>
          <p:nvPr/>
        </p:nvSpPr>
        <p:spPr>
          <a:xfrm>
            <a:off x="884180" y="94592"/>
            <a:ext cx="7482054" cy="8063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2800" b="1" kern="22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客户活动热力图</a:t>
            </a:r>
            <a:r>
              <a:rPr lang="en-US" altLang="zh-CN" sz="2800" b="1" kern="22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——</a:t>
            </a:r>
            <a:r>
              <a:rPr lang="zh-CN" altLang="en-US" sz="2800" b="1" kern="22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天</a:t>
            </a:r>
          </a:p>
        </p:txBody>
      </p:sp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C4DAFCD3-2511-4610-9B40-969FB1111B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7766713"/>
              </p:ext>
            </p:extLst>
          </p:nvPr>
        </p:nvGraphicFramePr>
        <p:xfrm>
          <a:off x="273269" y="1366345"/>
          <a:ext cx="11550869" cy="51080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BD34212C-B390-408D-B903-8D043AC0ED09}"/>
              </a:ext>
            </a:extLst>
          </p:cNvPr>
          <p:cNvSpPr txBox="1"/>
          <p:nvPr/>
        </p:nvSpPr>
        <p:spPr>
          <a:xfrm>
            <a:off x="9890235" y="94592"/>
            <a:ext cx="22071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1" dirty="0">
                <a:solidFill>
                  <a:schemeClr val="bg1"/>
                </a:solidFill>
              </a:rPr>
              <a:t>样本数量：</a:t>
            </a:r>
            <a:r>
              <a:rPr lang="en-US" altLang="zh-CN" sz="1600" i="1" dirty="0">
                <a:solidFill>
                  <a:schemeClr val="bg1"/>
                </a:solidFill>
              </a:rPr>
              <a:t>1251</a:t>
            </a:r>
            <a:r>
              <a:rPr lang="zh-CN" altLang="en-US" sz="1600" i="1" dirty="0">
                <a:solidFill>
                  <a:schemeClr val="bg1"/>
                </a:solidFill>
              </a:rPr>
              <a:t>人</a:t>
            </a:r>
          </a:p>
        </p:txBody>
      </p:sp>
    </p:spTree>
    <p:extLst>
      <p:ext uri="{BB962C8B-B14F-4D97-AF65-F5344CB8AC3E}">
        <p14:creationId xmlns:p14="http://schemas.microsoft.com/office/powerpoint/2010/main" val="4102999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"/>
                            </p:stCondLst>
                            <p:childTnLst>
                              <p:par>
                                <p:cTn id="2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00" fill="hold"/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00"/>
                            </p:stCondLst>
                            <p:childTnLst>
                              <p:par>
                                <p:cTn id="27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00" fill="hold"/>
                                        <p:tgtEl>
                                          <p:spTgt spid="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00" fill="hold"/>
                                        <p:tgtEl>
                                          <p:spTgt spid="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900"/>
                            </p:stCondLst>
                            <p:childTnLst>
                              <p:par>
                                <p:cTn id="34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00" fill="hold"/>
                                        <p:tgtEl>
                                          <p:spTgt spid="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00" fill="hold"/>
                                        <p:tgtEl>
                                          <p:spTgt spid="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00" fill="hold"/>
                                        <p:tgtEl>
                                          <p:spTgt spid="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00"/>
                            </p:stCondLst>
                            <p:childTnLst>
                              <p:par>
                                <p:cTn id="41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300" fill="hold"/>
                                        <p:tgtEl>
                                          <p:spTgt spid="5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00" fill="hold"/>
                                        <p:tgtEl>
                                          <p:spTgt spid="5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00" fill="hold"/>
                                        <p:tgtEl>
                                          <p:spTgt spid="5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00" fill="hold"/>
                                        <p:tgtEl>
                                          <p:spTgt spid="5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300" fill="hold"/>
                                        <p:tgtEl>
                                          <p:spTgt spid="5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00" fill="hold"/>
                                        <p:tgtEl>
                                          <p:spTgt spid="5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5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00" fill="hold"/>
                                        <p:tgtEl>
                                          <p:spTgt spid="5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800"/>
                            </p:stCondLst>
                            <p:childTnLst>
                              <p:par>
                                <p:cTn id="5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300" fill="hold"/>
                                        <p:tgtEl>
                                          <p:spTgt spid="5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00" fill="hold"/>
                                        <p:tgtEl>
                                          <p:spTgt spid="5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00" fill="hold"/>
                                        <p:tgtEl>
                                          <p:spTgt spid="5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00" fill="hold"/>
                                        <p:tgtEl>
                                          <p:spTgt spid="5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100"/>
                            </p:stCondLst>
                            <p:childTnLst>
                              <p:par>
                                <p:cTn id="62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300" fill="hold"/>
                                        <p:tgtEl>
                                          <p:spTgt spid="5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00" fill="hold"/>
                                        <p:tgtEl>
                                          <p:spTgt spid="5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300" fill="hold"/>
                                        <p:tgtEl>
                                          <p:spTgt spid="5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00" fill="hold"/>
                                        <p:tgtEl>
                                          <p:spTgt spid="5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400"/>
                            </p:stCondLst>
                            <p:childTnLst>
                              <p:par>
                                <p:cTn id="6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300" fill="hold"/>
                                        <p:tgtEl>
                                          <p:spTgt spid="5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300" fill="hold"/>
                                        <p:tgtEl>
                                          <p:spTgt spid="5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300" fill="hold"/>
                                        <p:tgtEl>
                                          <p:spTgt spid="5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300" fill="hold"/>
                                        <p:tgtEl>
                                          <p:spTgt spid="5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700"/>
                            </p:stCondLst>
                            <p:childTnLst>
                              <p:par>
                                <p:cTn id="76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300" fill="hold"/>
                                        <p:tgtEl>
                                          <p:spTgt spid="5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00" fill="hold"/>
                                        <p:tgtEl>
                                          <p:spTgt spid="5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300" fill="hold"/>
                                        <p:tgtEl>
                                          <p:spTgt spid="5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300" fill="hold"/>
                                        <p:tgtEl>
                                          <p:spTgt spid="5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000"/>
                            </p:stCondLst>
                            <p:childTnLst>
                              <p:par>
                                <p:cTn id="83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300" fill="hold"/>
                                        <p:tgtEl>
                                          <p:spTgt spid="5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300" fill="hold"/>
                                        <p:tgtEl>
                                          <p:spTgt spid="5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300" fill="hold"/>
                                        <p:tgtEl>
                                          <p:spTgt spid="5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300" fill="hold"/>
                                        <p:tgtEl>
                                          <p:spTgt spid="5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300"/>
                            </p:stCondLst>
                            <p:childTnLst>
                              <p:par>
                                <p:cTn id="9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300" fill="hold"/>
                                        <p:tgtEl>
                                          <p:spTgt spid="5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300" fill="hold"/>
                                        <p:tgtEl>
                                          <p:spTgt spid="5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300" fill="hold"/>
                                        <p:tgtEl>
                                          <p:spTgt spid="5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300" fill="hold"/>
                                        <p:tgtEl>
                                          <p:spTgt spid="5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600"/>
                            </p:stCondLst>
                            <p:childTnLst>
                              <p:par>
                                <p:cTn id="97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300" fill="hold"/>
                                        <p:tgtEl>
                                          <p:spTgt spid="5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300" fill="hold"/>
                                        <p:tgtEl>
                                          <p:spTgt spid="5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300" fill="hold"/>
                                        <p:tgtEl>
                                          <p:spTgt spid="5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300" fill="hold"/>
                                        <p:tgtEl>
                                          <p:spTgt spid="5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3900"/>
                            </p:stCondLst>
                            <p:childTnLst>
                              <p:par>
                                <p:cTn id="104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300" fill="hold"/>
                                        <p:tgtEl>
                                          <p:spTgt spid="5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300" fill="hold"/>
                                        <p:tgtEl>
                                          <p:spTgt spid="5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300" fill="hold"/>
                                        <p:tgtEl>
                                          <p:spTgt spid="5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300" fill="hold"/>
                                        <p:tgtEl>
                                          <p:spTgt spid="5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4200"/>
                            </p:stCondLst>
                            <p:childTnLst>
                              <p:par>
                                <p:cTn id="111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300" fill="hold"/>
                                        <p:tgtEl>
                                          <p:spTgt spid="5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300" fill="hold"/>
                                        <p:tgtEl>
                                          <p:spTgt spid="5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300" fill="hold"/>
                                        <p:tgtEl>
                                          <p:spTgt spid="5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300" fill="hold"/>
                                        <p:tgtEl>
                                          <p:spTgt spid="5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4500"/>
                            </p:stCondLst>
                            <p:childTnLst>
                              <p:par>
                                <p:cTn id="118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300" fill="hold"/>
                                        <p:tgtEl>
                                          <p:spTgt spid="5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300" fill="hold"/>
                                        <p:tgtEl>
                                          <p:spTgt spid="5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300" fill="hold"/>
                                        <p:tgtEl>
                                          <p:spTgt spid="5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300" fill="hold"/>
                                        <p:tgtEl>
                                          <p:spTgt spid="5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4800"/>
                            </p:stCondLst>
                            <p:childTnLst>
                              <p:par>
                                <p:cTn id="12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300" fill="hold"/>
                                        <p:tgtEl>
                                          <p:spTgt spid="5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300" fill="hold"/>
                                        <p:tgtEl>
                                          <p:spTgt spid="5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300" fill="hold"/>
                                        <p:tgtEl>
                                          <p:spTgt spid="5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300" fill="hold"/>
                                        <p:tgtEl>
                                          <p:spTgt spid="5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100"/>
                            </p:stCondLst>
                            <p:childTnLst>
                              <p:par>
                                <p:cTn id="132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300" fill="hold"/>
                                        <p:tgtEl>
                                          <p:spTgt spid="5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300" fill="hold"/>
                                        <p:tgtEl>
                                          <p:spTgt spid="5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300" fill="hold"/>
                                        <p:tgtEl>
                                          <p:spTgt spid="5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300" fill="hold"/>
                                        <p:tgtEl>
                                          <p:spTgt spid="5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400"/>
                            </p:stCondLst>
                            <p:childTnLst>
                              <p:par>
                                <p:cTn id="13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300" fill="hold"/>
                                        <p:tgtEl>
                                          <p:spTgt spid="5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300" fill="hold"/>
                                        <p:tgtEl>
                                          <p:spTgt spid="5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300" fill="hold"/>
                                        <p:tgtEl>
                                          <p:spTgt spid="5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300" fill="hold"/>
                                        <p:tgtEl>
                                          <p:spTgt spid="5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5700"/>
                            </p:stCondLst>
                            <p:childTnLst>
                              <p:par>
                                <p:cTn id="146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300" fill="hold"/>
                                        <p:tgtEl>
                                          <p:spTgt spid="5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300" fill="hold"/>
                                        <p:tgtEl>
                                          <p:spTgt spid="5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300" fill="hold"/>
                                        <p:tgtEl>
                                          <p:spTgt spid="5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300" fill="hold"/>
                                        <p:tgtEl>
                                          <p:spTgt spid="5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6000"/>
                            </p:stCondLst>
                            <p:childTnLst>
                              <p:par>
                                <p:cTn id="153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300" fill="hold"/>
                                        <p:tgtEl>
                                          <p:spTgt spid="5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300" fill="hold"/>
                                        <p:tgtEl>
                                          <p:spTgt spid="5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300" fill="hold"/>
                                        <p:tgtEl>
                                          <p:spTgt spid="5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300" fill="hold"/>
                                        <p:tgtEl>
                                          <p:spTgt spid="5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6300"/>
                            </p:stCondLst>
                            <p:childTnLst>
                              <p:par>
                                <p:cTn id="16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300" fill="hold"/>
                                        <p:tgtEl>
                                          <p:spTgt spid="5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300" fill="hold"/>
                                        <p:tgtEl>
                                          <p:spTgt spid="5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300" fill="hold"/>
                                        <p:tgtEl>
                                          <p:spTgt spid="5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300" fill="hold"/>
                                        <p:tgtEl>
                                          <p:spTgt spid="5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6600"/>
                            </p:stCondLst>
                            <p:childTnLst>
                              <p:par>
                                <p:cTn id="167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300" fill="hold"/>
                                        <p:tgtEl>
                                          <p:spTgt spid="5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300" fill="hold"/>
                                        <p:tgtEl>
                                          <p:spTgt spid="5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300" fill="hold"/>
                                        <p:tgtEl>
                                          <p:spTgt spid="5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300" fill="hold"/>
                                        <p:tgtEl>
                                          <p:spTgt spid="5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Chart bld="category"/>
        </p:bldSub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0B89D809-367C-4BE8-B6C9-EC93FB739F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CF23C4C2-49F7-40F5-9A56-37CA2265EE43}"/>
              </a:ext>
            </a:extLst>
          </p:cNvPr>
          <p:cNvSpPr txBox="1">
            <a:spLocks/>
          </p:cNvSpPr>
          <p:nvPr/>
        </p:nvSpPr>
        <p:spPr>
          <a:xfrm>
            <a:off x="884180" y="94592"/>
            <a:ext cx="7482054" cy="8063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2800" b="1" kern="22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经纪人：男性多还是女性多？</a:t>
            </a:r>
            <a:endParaRPr lang="en-US" altLang="zh-CN" sz="2800" b="1" kern="22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BC45C07D-FC9F-405C-91DA-FB3E1817DB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6215782"/>
              </p:ext>
            </p:extLst>
          </p:nvPr>
        </p:nvGraphicFramePr>
        <p:xfrm>
          <a:off x="884180" y="1565876"/>
          <a:ext cx="9941475" cy="46271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E64F4C43-57C6-415D-A419-ECBDDAC22845}"/>
              </a:ext>
            </a:extLst>
          </p:cNvPr>
          <p:cNvSpPr txBox="1"/>
          <p:nvPr/>
        </p:nvSpPr>
        <p:spPr>
          <a:xfrm>
            <a:off x="9890235" y="94592"/>
            <a:ext cx="22071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1" dirty="0">
                <a:solidFill>
                  <a:schemeClr val="bg1"/>
                </a:solidFill>
              </a:rPr>
              <a:t>样本数量：</a:t>
            </a:r>
            <a:r>
              <a:rPr lang="en-US" altLang="zh-CN" sz="1600" i="1" dirty="0">
                <a:solidFill>
                  <a:schemeClr val="bg1"/>
                </a:solidFill>
              </a:rPr>
              <a:t>1130</a:t>
            </a:r>
            <a:r>
              <a:rPr lang="zh-CN" altLang="en-US" sz="1600" i="1" dirty="0">
                <a:solidFill>
                  <a:schemeClr val="bg1"/>
                </a:solidFill>
              </a:rPr>
              <a:t>人</a:t>
            </a:r>
          </a:p>
        </p:txBody>
      </p:sp>
    </p:spTree>
    <p:extLst>
      <p:ext uri="{BB962C8B-B14F-4D97-AF65-F5344CB8AC3E}">
        <p14:creationId xmlns:p14="http://schemas.microsoft.com/office/powerpoint/2010/main" val="632283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"/>
                            </p:stCondLst>
                            <p:childTnLst>
                              <p:par>
                                <p:cTn id="2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00" fill="hold"/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Chart bld="category"/>
        </p:bldSub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0B89D809-367C-4BE8-B6C9-EC93FB739F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CF23C4C2-49F7-40F5-9A56-37CA2265EE43}"/>
              </a:ext>
            </a:extLst>
          </p:cNvPr>
          <p:cNvSpPr txBox="1">
            <a:spLocks/>
          </p:cNvSpPr>
          <p:nvPr/>
        </p:nvSpPr>
        <p:spPr>
          <a:xfrm>
            <a:off x="884180" y="94592"/>
            <a:ext cx="7482054" cy="8063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2800" b="1" kern="22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经纪人：哪个年龄段从业人数比例最多？</a:t>
            </a:r>
            <a:endParaRPr lang="en-US" altLang="zh-CN" sz="2800" b="1" kern="22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84B731C5-C6B0-47CA-9C8B-D36B9AF4B0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8112691"/>
              </p:ext>
            </p:extLst>
          </p:nvPr>
        </p:nvGraphicFramePr>
        <p:xfrm>
          <a:off x="525517" y="1187669"/>
          <a:ext cx="11119945" cy="5423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14E1A637-F367-4016-8078-2425C74FA498}"/>
              </a:ext>
            </a:extLst>
          </p:cNvPr>
          <p:cNvSpPr txBox="1"/>
          <p:nvPr/>
        </p:nvSpPr>
        <p:spPr>
          <a:xfrm>
            <a:off x="9890235" y="94592"/>
            <a:ext cx="22071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1" dirty="0">
                <a:solidFill>
                  <a:schemeClr val="bg1"/>
                </a:solidFill>
              </a:rPr>
              <a:t>样本数量：</a:t>
            </a:r>
            <a:r>
              <a:rPr lang="en-US" altLang="zh-CN" sz="1600" i="1" dirty="0">
                <a:solidFill>
                  <a:schemeClr val="bg1"/>
                </a:solidFill>
              </a:rPr>
              <a:t>1130</a:t>
            </a:r>
            <a:r>
              <a:rPr lang="zh-CN" altLang="en-US" sz="1600" i="1" dirty="0">
                <a:solidFill>
                  <a:schemeClr val="bg1"/>
                </a:solidFill>
              </a:rPr>
              <a:t>人</a:t>
            </a:r>
          </a:p>
        </p:txBody>
      </p:sp>
    </p:spTree>
    <p:extLst>
      <p:ext uri="{BB962C8B-B14F-4D97-AF65-F5344CB8AC3E}">
        <p14:creationId xmlns:p14="http://schemas.microsoft.com/office/powerpoint/2010/main" val="529002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"/>
                            </p:stCondLst>
                            <p:childTnLst>
                              <p:par>
                                <p:cTn id="2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00" fill="hold"/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00"/>
                            </p:stCondLst>
                            <p:childTnLst>
                              <p:par>
                                <p:cTn id="27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00" fill="hold"/>
                                        <p:tgtEl>
                                          <p:spTgt spid="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00" fill="hold"/>
                                        <p:tgtEl>
                                          <p:spTgt spid="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900"/>
                            </p:stCondLst>
                            <p:childTnLst>
                              <p:par>
                                <p:cTn id="34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00" fill="hold"/>
                                        <p:tgtEl>
                                          <p:spTgt spid="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00" fill="hold"/>
                                        <p:tgtEl>
                                          <p:spTgt spid="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00" fill="hold"/>
                                        <p:tgtEl>
                                          <p:spTgt spid="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00"/>
                            </p:stCondLst>
                            <p:childTnLst>
                              <p:par>
                                <p:cTn id="41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300" fill="hold"/>
                                        <p:tgtEl>
                                          <p:spTgt spid="5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00" fill="hold"/>
                                        <p:tgtEl>
                                          <p:spTgt spid="5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00" fill="hold"/>
                                        <p:tgtEl>
                                          <p:spTgt spid="5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00" fill="hold"/>
                                        <p:tgtEl>
                                          <p:spTgt spid="5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300" fill="hold"/>
                                        <p:tgtEl>
                                          <p:spTgt spid="5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00" fill="hold"/>
                                        <p:tgtEl>
                                          <p:spTgt spid="5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5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00" fill="hold"/>
                                        <p:tgtEl>
                                          <p:spTgt spid="5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Chart bld="category"/>
        </p:bldSub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0B89D809-367C-4BE8-B6C9-EC93FB739F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CF23C4C2-49F7-40F5-9A56-37CA2265EE43}"/>
              </a:ext>
            </a:extLst>
          </p:cNvPr>
          <p:cNvSpPr txBox="1">
            <a:spLocks/>
          </p:cNvSpPr>
          <p:nvPr/>
        </p:nvSpPr>
        <p:spPr>
          <a:xfrm>
            <a:off x="884180" y="94592"/>
            <a:ext cx="7482054" cy="8063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2800" b="1" kern="22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经纪人：一般来说，入行多久成交率最大？</a:t>
            </a:r>
            <a:endParaRPr lang="en-US" altLang="zh-CN" sz="2800" b="1" kern="22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D899BE30-CA64-4401-B17C-D5054DB9E4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8282682"/>
              </p:ext>
            </p:extLst>
          </p:nvPr>
        </p:nvGraphicFramePr>
        <p:xfrm>
          <a:off x="1061545" y="995524"/>
          <a:ext cx="10489323" cy="5321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1CA89F3A-AFCB-4DF9-B81A-8283E0992C58}"/>
              </a:ext>
            </a:extLst>
          </p:cNvPr>
          <p:cNvSpPr txBox="1"/>
          <p:nvPr/>
        </p:nvSpPr>
        <p:spPr>
          <a:xfrm>
            <a:off x="10195035" y="6258175"/>
            <a:ext cx="13558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单位：月份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9521474-1624-4825-A9C3-E0B7FF612C1E}"/>
              </a:ext>
            </a:extLst>
          </p:cNvPr>
          <p:cNvSpPr txBox="1"/>
          <p:nvPr/>
        </p:nvSpPr>
        <p:spPr>
          <a:xfrm>
            <a:off x="9890235" y="94592"/>
            <a:ext cx="22071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1" dirty="0">
                <a:solidFill>
                  <a:schemeClr val="bg1"/>
                </a:solidFill>
              </a:rPr>
              <a:t>样本数量：</a:t>
            </a:r>
            <a:r>
              <a:rPr lang="en-US" altLang="zh-CN" sz="1600" i="1" dirty="0">
                <a:solidFill>
                  <a:schemeClr val="bg1"/>
                </a:solidFill>
              </a:rPr>
              <a:t>1130</a:t>
            </a:r>
            <a:r>
              <a:rPr lang="zh-CN" altLang="en-US" sz="1600" i="1" dirty="0">
                <a:solidFill>
                  <a:schemeClr val="bg1"/>
                </a:solidFill>
              </a:rPr>
              <a:t>人</a:t>
            </a:r>
          </a:p>
        </p:txBody>
      </p:sp>
    </p:spTree>
    <p:extLst>
      <p:ext uri="{BB962C8B-B14F-4D97-AF65-F5344CB8AC3E}">
        <p14:creationId xmlns:p14="http://schemas.microsoft.com/office/powerpoint/2010/main" val="3237487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"/>
                            </p:stCondLst>
                            <p:childTnLst>
                              <p:par>
                                <p:cTn id="2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00" fill="hold"/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00"/>
                            </p:stCondLst>
                            <p:childTnLst>
                              <p:par>
                                <p:cTn id="27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00" fill="hold"/>
                                        <p:tgtEl>
                                          <p:spTgt spid="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00" fill="hold"/>
                                        <p:tgtEl>
                                          <p:spTgt spid="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900"/>
                            </p:stCondLst>
                            <p:childTnLst>
                              <p:par>
                                <p:cTn id="34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6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00" fill="hold"/>
                                        <p:tgtEl>
                                          <p:spTgt spid="6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00" fill="hold"/>
                                        <p:tgtEl>
                                          <p:spTgt spid="6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00" fill="hold"/>
                                        <p:tgtEl>
                                          <p:spTgt spid="6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00"/>
                            </p:stCondLst>
                            <p:childTnLst>
                              <p:par>
                                <p:cTn id="41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300" fill="hold"/>
                                        <p:tgtEl>
                                          <p:spTgt spid="6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00" fill="hold"/>
                                        <p:tgtEl>
                                          <p:spTgt spid="6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00" fill="hold"/>
                                        <p:tgtEl>
                                          <p:spTgt spid="6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00" fill="hold"/>
                                        <p:tgtEl>
                                          <p:spTgt spid="6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300" fill="hold"/>
                                        <p:tgtEl>
                                          <p:spTgt spid="6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00" fill="hold"/>
                                        <p:tgtEl>
                                          <p:spTgt spid="6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6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00" fill="hold"/>
                                        <p:tgtEl>
                                          <p:spTgt spid="6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800"/>
                            </p:stCondLst>
                            <p:childTnLst>
                              <p:par>
                                <p:cTn id="5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300" fill="hold"/>
                                        <p:tgtEl>
                                          <p:spTgt spid="6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00" fill="hold"/>
                                        <p:tgtEl>
                                          <p:spTgt spid="6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00" fill="hold"/>
                                        <p:tgtEl>
                                          <p:spTgt spid="6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00" fill="hold"/>
                                        <p:tgtEl>
                                          <p:spTgt spid="6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100"/>
                            </p:stCondLst>
                            <p:childTnLst>
                              <p:par>
                                <p:cTn id="62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300" fill="hold"/>
                                        <p:tgtEl>
                                          <p:spTgt spid="6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00" fill="hold"/>
                                        <p:tgtEl>
                                          <p:spTgt spid="6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300" fill="hold"/>
                                        <p:tgtEl>
                                          <p:spTgt spid="6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00" fill="hold"/>
                                        <p:tgtEl>
                                          <p:spTgt spid="6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400"/>
                            </p:stCondLst>
                            <p:childTnLst>
                              <p:par>
                                <p:cTn id="6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300" fill="hold"/>
                                        <p:tgtEl>
                                          <p:spTgt spid="6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300" fill="hold"/>
                                        <p:tgtEl>
                                          <p:spTgt spid="6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300" fill="hold"/>
                                        <p:tgtEl>
                                          <p:spTgt spid="6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300" fill="hold"/>
                                        <p:tgtEl>
                                          <p:spTgt spid="6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700"/>
                            </p:stCondLst>
                            <p:childTnLst>
                              <p:par>
                                <p:cTn id="76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300" fill="hold"/>
                                        <p:tgtEl>
                                          <p:spTgt spid="6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00" fill="hold"/>
                                        <p:tgtEl>
                                          <p:spTgt spid="6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300" fill="hold"/>
                                        <p:tgtEl>
                                          <p:spTgt spid="6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300" fill="hold"/>
                                        <p:tgtEl>
                                          <p:spTgt spid="6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000"/>
                            </p:stCondLst>
                            <p:childTnLst>
                              <p:par>
                                <p:cTn id="83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300" fill="hold"/>
                                        <p:tgtEl>
                                          <p:spTgt spid="6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300" fill="hold"/>
                                        <p:tgtEl>
                                          <p:spTgt spid="6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300" fill="hold"/>
                                        <p:tgtEl>
                                          <p:spTgt spid="6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300" fill="hold"/>
                                        <p:tgtEl>
                                          <p:spTgt spid="6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300"/>
                            </p:stCondLst>
                            <p:childTnLst>
                              <p:par>
                                <p:cTn id="9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300" fill="hold"/>
                                        <p:tgtEl>
                                          <p:spTgt spid="6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300" fill="hold"/>
                                        <p:tgtEl>
                                          <p:spTgt spid="6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300" fill="hold"/>
                                        <p:tgtEl>
                                          <p:spTgt spid="6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300" fill="hold"/>
                                        <p:tgtEl>
                                          <p:spTgt spid="6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600"/>
                            </p:stCondLst>
                            <p:childTnLst>
                              <p:par>
                                <p:cTn id="97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300" fill="hold"/>
                                        <p:tgtEl>
                                          <p:spTgt spid="6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300" fill="hold"/>
                                        <p:tgtEl>
                                          <p:spTgt spid="6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300" fill="hold"/>
                                        <p:tgtEl>
                                          <p:spTgt spid="6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300" fill="hold"/>
                                        <p:tgtEl>
                                          <p:spTgt spid="6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3900"/>
                            </p:stCondLst>
                            <p:childTnLst>
                              <p:par>
                                <p:cTn id="104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300" fill="hold"/>
                                        <p:tgtEl>
                                          <p:spTgt spid="6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300" fill="hold"/>
                                        <p:tgtEl>
                                          <p:spTgt spid="6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300" fill="hold"/>
                                        <p:tgtEl>
                                          <p:spTgt spid="6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300" fill="hold"/>
                                        <p:tgtEl>
                                          <p:spTgt spid="6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4200"/>
                            </p:stCondLst>
                            <p:childTnLst>
                              <p:par>
                                <p:cTn id="111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300" fill="hold"/>
                                        <p:tgtEl>
                                          <p:spTgt spid="6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300" fill="hold"/>
                                        <p:tgtEl>
                                          <p:spTgt spid="6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300" fill="hold"/>
                                        <p:tgtEl>
                                          <p:spTgt spid="6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300" fill="hold"/>
                                        <p:tgtEl>
                                          <p:spTgt spid="6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4500"/>
                            </p:stCondLst>
                            <p:childTnLst>
                              <p:par>
                                <p:cTn id="118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300" fill="hold"/>
                                        <p:tgtEl>
                                          <p:spTgt spid="6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300" fill="hold"/>
                                        <p:tgtEl>
                                          <p:spTgt spid="6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300" fill="hold"/>
                                        <p:tgtEl>
                                          <p:spTgt spid="6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300" fill="hold"/>
                                        <p:tgtEl>
                                          <p:spTgt spid="6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4800"/>
                            </p:stCondLst>
                            <p:childTnLst>
                              <p:par>
                                <p:cTn id="12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300" fill="hold"/>
                                        <p:tgtEl>
                                          <p:spTgt spid="6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300" fill="hold"/>
                                        <p:tgtEl>
                                          <p:spTgt spid="6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300" fill="hold"/>
                                        <p:tgtEl>
                                          <p:spTgt spid="6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300" fill="hold"/>
                                        <p:tgtEl>
                                          <p:spTgt spid="6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100"/>
                            </p:stCondLst>
                            <p:childTnLst>
                              <p:par>
                                <p:cTn id="132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300" fill="hold"/>
                                        <p:tgtEl>
                                          <p:spTgt spid="6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300" fill="hold"/>
                                        <p:tgtEl>
                                          <p:spTgt spid="6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300" fill="hold"/>
                                        <p:tgtEl>
                                          <p:spTgt spid="6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300" fill="hold"/>
                                        <p:tgtEl>
                                          <p:spTgt spid="6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400"/>
                            </p:stCondLst>
                            <p:childTnLst>
                              <p:par>
                                <p:cTn id="13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300" fill="hold"/>
                                        <p:tgtEl>
                                          <p:spTgt spid="6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300" fill="hold"/>
                                        <p:tgtEl>
                                          <p:spTgt spid="6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300" fill="hold"/>
                                        <p:tgtEl>
                                          <p:spTgt spid="6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300" fill="hold"/>
                                        <p:tgtEl>
                                          <p:spTgt spid="6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5700"/>
                            </p:stCondLst>
                            <p:childTnLst>
                              <p:par>
                                <p:cTn id="146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300" fill="hold"/>
                                        <p:tgtEl>
                                          <p:spTgt spid="6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300" fill="hold"/>
                                        <p:tgtEl>
                                          <p:spTgt spid="6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300" fill="hold"/>
                                        <p:tgtEl>
                                          <p:spTgt spid="6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300" fill="hold"/>
                                        <p:tgtEl>
                                          <p:spTgt spid="6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6000"/>
                            </p:stCondLst>
                            <p:childTnLst>
                              <p:par>
                                <p:cTn id="153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300" fill="hold"/>
                                        <p:tgtEl>
                                          <p:spTgt spid="6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300" fill="hold"/>
                                        <p:tgtEl>
                                          <p:spTgt spid="6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300" fill="hold"/>
                                        <p:tgtEl>
                                          <p:spTgt spid="6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300" fill="hold"/>
                                        <p:tgtEl>
                                          <p:spTgt spid="6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6300"/>
                            </p:stCondLst>
                            <p:childTnLst>
                              <p:par>
                                <p:cTn id="16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300" fill="hold"/>
                                        <p:tgtEl>
                                          <p:spTgt spid="6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300" fill="hold"/>
                                        <p:tgtEl>
                                          <p:spTgt spid="6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300" fill="hold"/>
                                        <p:tgtEl>
                                          <p:spTgt spid="6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300" fill="hold"/>
                                        <p:tgtEl>
                                          <p:spTgt spid="6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6600"/>
                            </p:stCondLst>
                            <p:childTnLst>
                              <p:par>
                                <p:cTn id="167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300" fill="hold"/>
                                        <p:tgtEl>
                                          <p:spTgt spid="6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300" fill="hold"/>
                                        <p:tgtEl>
                                          <p:spTgt spid="6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300" fill="hold"/>
                                        <p:tgtEl>
                                          <p:spTgt spid="6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300" fill="hold"/>
                                        <p:tgtEl>
                                          <p:spTgt spid="6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6900"/>
                            </p:stCondLst>
                            <p:childTnLst>
                              <p:par>
                                <p:cTn id="174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2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300" fill="hold"/>
                                        <p:tgtEl>
                                          <p:spTgt spid="6">
                                            <p:graphicEl>
                                              <a:chart seriesIdx="-4" categoryIdx="2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300" fill="hold"/>
                                        <p:tgtEl>
                                          <p:spTgt spid="6">
                                            <p:graphicEl>
                                              <a:chart seriesIdx="-4" categoryIdx="2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300" fill="hold"/>
                                        <p:tgtEl>
                                          <p:spTgt spid="6">
                                            <p:graphicEl>
                                              <a:chart seriesIdx="-4" categoryIdx="2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300" fill="hold"/>
                                        <p:tgtEl>
                                          <p:spTgt spid="6">
                                            <p:graphicEl>
                                              <a:chart seriesIdx="-4" categoryIdx="2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Chart bld="category"/>
        </p:bldSub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F3E6528-8166-4047-8569-85F65537514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8BFF9C8A-94D2-4C58-ADA1-5AA3940591A7}"/>
              </a:ext>
            </a:extLst>
          </p:cNvPr>
          <p:cNvSpPr txBox="1">
            <a:spLocks/>
          </p:cNvSpPr>
          <p:nvPr/>
        </p:nvSpPr>
        <p:spPr>
          <a:xfrm>
            <a:off x="4562802" y="1986454"/>
            <a:ext cx="3066395" cy="8063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2800" b="1" kern="2200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商业地产</a:t>
            </a:r>
            <a:r>
              <a:rPr lang="en-US" altLang="zh-CN" sz="2800" b="1" kern="2200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+</a:t>
            </a:r>
            <a:r>
              <a:rPr lang="zh-CN" altLang="en-US" sz="2800" b="1" kern="2200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互联网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7822E877-19BB-4001-AFAF-6835A40CD4E1}"/>
              </a:ext>
            </a:extLst>
          </p:cNvPr>
          <p:cNvSpPr txBox="1">
            <a:spLocks/>
          </p:cNvSpPr>
          <p:nvPr/>
        </p:nvSpPr>
        <p:spPr>
          <a:xfrm>
            <a:off x="2469931" y="2635468"/>
            <a:ext cx="7031420" cy="1003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dist">
              <a:lnSpc>
                <a:spcPct val="130000"/>
              </a:lnSpc>
            </a:pPr>
            <a:r>
              <a:rPr lang="zh-CN" altLang="en-US" sz="4000" kern="2200" dirty="0">
                <a:solidFill>
                  <a:schemeClr val="bg1">
                    <a:lumMod val="9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谢谢聆听</a:t>
            </a: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3C9FB74A-345A-4561-9C8C-9F903D6745D3}"/>
              </a:ext>
            </a:extLst>
          </p:cNvPr>
          <p:cNvSpPr txBox="1">
            <a:spLocks/>
          </p:cNvSpPr>
          <p:nvPr/>
        </p:nvSpPr>
        <p:spPr>
          <a:xfrm>
            <a:off x="2523138" y="3441808"/>
            <a:ext cx="6925005" cy="1003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dist">
              <a:lnSpc>
                <a:spcPct val="130000"/>
              </a:lnSpc>
            </a:pPr>
            <a:r>
              <a:rPr lang="en-US" altLang="zh-CN" sz="2000" b="1" kern="2200" dirty="0">
                <a:solidFill>
                  <a:schemeClr val="bg1">
                    <a:lumMod val="9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Thanks for listening</a:t>
            </a:r>
            <a:endParaRPr lang="zh-CN" altLang="en-US" sz="2000" b="1" kern="2200" dirty="0">
              <a:solidFill>
                <a:schemeClr val="bg1">
                  <a:lumMod val="9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+mn-lt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C3563B63-584E-4181-91F4-649E50956031}"/>
              </a:ext>
            </a:extLst>
          </p:cNvPr>
          <p:cNvSpPr txBox="1">
            <a:spLocks/>
          </p:cNvSpPr>
          <p:nvPr/>
        </p:nvSpPr>
        <p:spPr>
          <a:xfrm>
            <a:off x="5570809" y="5244660"/>
            <a:ext cx="1050380" cy="8063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1600" b="1" kern="2200" dirty="0">
                <a:solidFill>
                  <a:schemeClr val="bg1">
                    <a:lumMod val="9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尹化戈</a:t>
            </a:r>
          </a:p>
        </p:txBody>
      </p:sp>
    </p:spTree>
    <p:extLst>
      <p:ext uri="{BB962C8B-B14F-4D97-AF65-F5344CB8AC3E}">
        <p14:creationId xmlns:p14="http://schemas.microsoft.com/office/powerpoint/2010/main" val="2383356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822</TotalTime>
  <Words>322</Words>
  <Application>Microsoft Office PowerPoint</Application>
  <PresentationFormat>宽屏</PresentationFormat>
  <Paragraphs>84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3" baseType="lpstr">
      <vt:lpstr>等线</vt:lpstr>
      <vt:lpstr>等线 Light</vt:lpstr>
      <vt:lpstr>华文中宋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尹化戈</dc:creator>
  <cp:lastModifiedBy>尹化戈</cp:lastModifiedBy>
  <cp:revision>49</cp:revision>
  <dcterms:created xsi:type="dcterms:W3CDTF">2018-12-20T05:57:04Z</dcterms:created>
  <dcterms:modified xsi:type="dcterms:W3CDTF">2019-01-04T06:51:42Z</dcterms:modified>
</cp:coreProperties>
</file>